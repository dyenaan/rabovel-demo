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12 seconds.
Founder prompt: Describe the buyer and one job Rabovel helps it complete.
Founder-selected customer. Business positioning is a working hypothesis. Product is demo-only; no commercial activity established. Replace outline phrasing with your own account of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18 seconds.
Founder prompt: Add one observed workflow, its baseline and the person responsible.
These are customer-discovery questions, not measured pain claims. Separate primary-offer allotment from a sale of already allocated inventory. No invented user quote or savings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18 seconds.
Founder prompt: Explain the expected benefit, added prefunding cost and how you will measure both.
Market activity does not prove demand for Rabovel. The cNGN and paired-transfer advantage is a hypothesis. Banking, eligibility, allocation and legal ownership are separate boundaries.
S4: NGX distribution report — https://ngxgroup.com/the-quiet-digital-revolution-reshaping-nigerias-capital-market/
S5: NGX Invest — https://www.invest.ngxgroup.com/
S14: cNGN documentation — https://docs.cngn.co/
S15: cNGN going live — https://docs.cngn.co/going-live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24 seconds.
Founder prompt: Insert a verified capture, public transaction ID and before/after balances.
Source: rabovel-BE/apps/rabovel-api/src/mint_setup.rs, purchase transaction around lines 751–805; docs/settlement-flow.md. Issuer partial signature and investor Phantom signature. Investor fee payer needs SOL. Eligibility preparation is a separate transaction. Zero-decimal mint: whole units. No network purchase was run during this research. Backing, pricing and identity checks are simulated. No custom Rabovel program or active transfer hook. Production ledger and recovery remain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17 seconds.
Founder prompt: Name the buyer’s current alternative and the outcome that would justify switching.
Direct local alternatives and adjacent analogues are different categories. Crafts: Frontier winner; equity-linked startup fundraising, not Nigerian brokerage. Credible Finance: Cypherpunk stablecoins runner-up, C4 accelerator; remittance infrastructure, not securities permission. Their archived demos had execution limits. No feature scorecard or inferred market leadership.
S5: NGX Invest — https://www.invest.ngxgroup.com/
S6: NASD N-DSP announcement — https://nasdng.com/news/blockchain-technology/
S7: Dinari — https://dinari.com/
S8: xStocks distribution — https://xstocks.com/partner
S18: Crafts full project record — https://colosseum.com/projects/explore/crafts-1
S19: Credible Finance full project record — https://colosseum.com/projects/explore/credible-finance-1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18 seconds.
Founder prompt: Validate qualified firms, budgets, annual supported value and direct costs.
Arithmetic: 3×₦6m + ₦5bn×0.0005 = ₦20.5m. Hypothetical capacity, not forecast, pipeline or traction. Five bps = 0.05%. Costs, taxes, integration revenue and partner payouts excluded. Active broker directory count does not include all issuing firms or prove eligibility. PDF header October 5 versus filename September 21 discrepancy recorded. Full-universe subscription sensitivity: 186×₦6m = ₦1.116bn/year, not validated TAM. Expansion and repeat use required to substantiate venture-scale opportunity.
S17: NGX broker directory — https://ngxgroup.com/ngx-download/status-of-trading-license-holders-2/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17 seconds.
Founder prompt: Identify who can introduce the team and what a buyer must commit to.
Qualify ten intermediaries from the directory and genuine team access. Targets shown are planned, not traction. Begin historical/anonymized replay and sandbox work. Measure operator minutes per 100 transactions, exception rate, full timing and cost. A proposed 30% time reduction is an acceptance target to negotiate, not a measured result. No outreach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15 seconds.
Founder prompt: Explain each person’s role and the work completed during this event.
These are user-reported employment experiences, not endorsements or partnerships. Do not imply seniority or regulatory credentials. Repository commit dates are shipping evidence, not traction or proof of eligibility. Disclose pre-September-14 code and third-party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16 seconds.
Founder prompt: Describe what must be proven at each gate before advancing.
Day ranges are proposed post-submission stages, conditional on prior evidence. No regulatory approval or production launch promised in 90 days. Need cNGN terms, actual custody/register model, partner costs and repeat use. Token controls do not create legal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Pitch timing target: 10 seconds.
Founder prompt: State the specific help you need and the evidence you will deliver next.
Use a founder-owned closing. Do not add a fundraising amount without an actual financing plan. This remains a proposed milestone, not an existing partnership.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Interview appendix; excluded from timed pitch.
Founder prompt: Technology-provider positioning does not determine licensing obligations.
SEC January 2026 circular includes RATOP/DAOP ₦1bn, DAPO/DAI ₦500m, digital-asset exchange/custodian ₦2bn, compliance deadline June 30 2027. Classification of Rabovel unresolved. These are capital requirements, not integration costs. Investor self-signing, server issuer signing and broker payment destination describe demo mechanics, not a completed custody model.
S11: SEC capital circular — https://sec.gov.ng/for-investors/keep-track-of-circulars/revised-minimum-capital-mc-for-regulated-capital-market-entities/
S14: cNGN documentation — https://docs.cngn.co/
S15: cNGN going live — https://docs.cngn.co/going-live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Interview appendix; excluded from timed pitch.
Founder prompt: A transaction explorer proves onchain effects; it does not prove legal share ownership.
Total 160 seconds; separate from 165-second pitch. Some preparation may be prerecorded but must be disclosed. Do not present fixture screens as functional integration. Eligibility preparation occurs separately. Confirmed commitment, bank timing and legal register updates are different concepts. Record only identifiers actually produced by the verified run.
S1: Colosseum FAQ — https://colosseum.com/hackathon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Interview appendix; excluded from timed pitch.
Founder prompt: Direct costs and margins are unknown. Obtain partner quotes before stating profitability.
Annual revenue = firms×annual fee + aggregate annual settled value×0.0005 (five basis points). Integration fees, taxes and partner payouts excluded. Contribution = revenue − direct cost. Break-even requires positive contribution and fixed operating costs. Directory universe sensitivity is not qualified SAM. Do not annualize cumulative NGX fundraising or use market capitalization as revenue TAM.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Interview appendix; excluded from timed pitch.
Founder prompt: Formal rules also call for functionality, impact, novelty, UX and open-source composition.
This is an evidence checklist, not a numerical grade. Describe Solana/Token-2022/ACL composition accurately, provide repository access and disclose pre-existing code. Winner analogues do not substitute for Rabovel customer evidence.
S1: Colosseum FAQ — https://colosseum.com/hackathon
S3: Crypto World’s Fair rules — https://colosseum.com/legal/Crypto%20World%27s%20Fair%20Hackathon%20Rules.pdf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BLUEPRINT — rewrite in your own voice before submission.
Interview appendix; excluded from timed pitch.
Founder prompt: Company pages describe their products; they do not independently establish performance.
Public sources, full Copilot project records and Grid discovery were cross-checked. No customer interviews were conducted, no live network purchase was executed and no external outreach was sent. The NGX report is republished press; broker directory has a filename/header date discrepancy. Forecasts and licenses are not established. Deadline October 12 11:59 p.m. PT / October 13 12:59 a.m. Edmonton; submit earlier on October 12 locally. Event rules specify winners by December 5.
S1: Colosseum FAQ — https://colosseum.com/hackathon
S3: Crypto World’s Fair rules — https://colosseum.com/legal/Crypto%20World%27s%20Fair%20Hackathon%20Rules.pdf
S4: NGX distribution report — https://ngxgroup.com/the-quiet-digital-revolution-reshaping-nigerias-capital-market/
S5: NGX Invest — https://www.invest.ngxgroup.com/
S6: NASD N-DSP announcement — https://nasdng.com/news/blockchain-technology/
S7: Dinari — https://dinari.com/
S8: xStocks distribution — https://xstocks.com/partner
S9: CSCS T+2 announcement — https://www.cscs.ng/2025/11/cscs-announces-go-live-of-t2-settlement-cycle-in-capital-market/
S10: CSCS settlement explanation — https://www.cscs.ng/ngt2/common-questions/
S11: SEC capital circular — https://sec.gov.ng/for-investors/keep-track-of-circulars/revised-minimum-capital-mc-for-regulated-capital-market-entities/
S14: cNGN documentation — https://docs.cngn.co/
S15: cNGN going live — https://docs.cngn.co/going-live
S17: NGX broker directory — https://ngxgroup.com/ngx-download/status-of-trading-license-holders-2/
S18: Crafts full project record — https://colosseum.com/projects/explore/crafts-1
S19: Credible Finance full project record — https://colosseum.com/projects/explore/credible-finance-1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ngxgroup.com/the-quiet-digital-revolution-reshaping-nigerias-capital-market/" TargetMode="External"/><Relationship Id="rId2" Type="http://schemas.openxmlformats.org/officeDocument/2006/relationships/hyperlink" Target="https://www.invest.ngxgroup.com/" TargetMode="External"/><Relationship Id="rId3" Type="http://schemas.openxmlformats.org/officeDocument/2006/relationships/hyperlink" Target="https://docs.cngn.co/" TargetMode="External"/><Relationship Id="rId4" Type="http://schemas.openxmlformats.org/officeDocument/2006/relationships/hyperlink" Target="https://docs.cngn.co/going-live"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invest.ngxgroup.com/" TargetMode="External"/><Relationship Id="rId2" Type="http://schemas.openxmlformats.org/officeDocument/2006/relationships/hyperlink" Target="https://nasdng.com/news/blockchain-technology/" TargetMode="External"/><Relationship Id="rId3" Type="http://schemas.openxmlformats.org/officeDocument/2006/relationships/hyperlink" Target="https://dinari.com/" TargetMode="External"/><Relationship Id="rId4" Type="http://schemas.openxmlformats.org/officeDocument/2006/relationships/hyperlink" Target="https://xstocks.com/partner" TargetMode="External"/><Relationship Id="rId5" Type="http://schemas.openxmlformats.org/officeDocument/2006/relationships/hyperlink" Target="https://colosseum.com/projects/explore/crafts-1" TargetMode="External"/><Relationship Id="rId6" Type="http://schemas.openxmlformats.org/officeDocument/2006/relationships/hyperlink" Target="https://colosseum.com/projects/explore/credible-finance-1"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ngxgroup.com/ngx-download/status-of-trading-license-holders-2/"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ec.gov.ng/for-investors/keep-track-of-circulars/revised-minimum-capital-mc-for-regulated-capital-market-entities/" TargetMode="External"/><Relationship Id="rId2" Type="http://schemas.openxmlformats.org/officeDocument/2006/relationships/hyperlink" Target="https://docs.cngn.co/" TargetMode="External"/><Relationship Id="rId3" Type="http://schemas.openxmlformats.org/officeDocument/2006/relationships/hyperlink" Target="https://docs.cngn.co/going-live"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olosseum.com/hackathon"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olosseum.com/hackathon" TargetMode="External"/><Relationship Id="rId2" Type="http://schemas.openxmlformats.org/officeDocument/2006/relationships/hyperlink" Target="https://colosseum.com/legal/Crypto%20World%27s%20Fair%20Hackathon%20Rules.pdf"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olosseum.com/hackathon" TargetMode="External"/><Relationship Id="rId2" Type="http://schemas.openxmlformats.org/officeDocument/2006/relationships/hyperlink" Target="https://colosseum.com/legal/Crypto%20World%27s%20Fair%20Hackathon%20Rules.pdf" TargetMode="External"/><Relationship Id="rId3" Type="http://schemas.openxmlformats.org/officeDocument/2006/relationships/hyperlink" Target="https://ngxgroup.com/the-quiet-digital-revolution-reshaping-nigerias-capital-market/" TargetMode="External"/><Relationship Id="rId4" Type="http://schemas.openxmlformats.org/officeDocument/2006/relationships/hyperlink" Target="https://www.invest.ngxgroup.com/" TargetMode="External"/><Relationship Id="rId5" Type="http://schemas.openxmlformats.org/officeDocument/2006/relationships/hyperlink" Target="https://nasdng.com/news/blockchain-technology/" TargetMode="External"/><Relationship Id="rId6" Type="http://schemas.openxmlformats.org/officeDocument/2006/relationships/hyperlink" Target="https://dinari.com/" TargetMode="External"/><Relationship Id="rId7" Type="http://schemas.openxmlformats.org/officeDocument/2006/relationships/hyperlink" Target="https://xstocks.com/partner" TargetMode="External"/><Relationship Id="rId8" Type="http://schemas.openxmlformats.org/officeDocument/2006/relationships/hyperlink" Target="https://www.cscs.ng/2025/11/cscs-announces-go-live-of-t2-settlement-cycle-in-capital-market/" TargetMode="External"/><Relationship Id="rId9" Type="http://schemas.openxmlformats.org/officeDocument/2006/relationships/hyperlink" Target="https://www.cscs.ng/ngt2/common-questions/" TargetMode="External"/><Relationship Id="rId10" Type="http://schemas.openxmlformats.org/officeDocument/2006/relationships/hyperlink" Target="https://sec.gov.ng/for-investors/keep-track-of-circulars/revised-minimum-capital-mc-for-regulated-capital-market-entities/" TargetMode="External"/><Relationship Id="rId11" Type="http://schemas.openxmlformats.org/officeDocument/2006/relationships/hyperlink" Target="https://docs.cngn.co/" TargetMode="External"/><Relationship Id="rId12" Type="http://schemas.openxmlformats.org/officeDocument/2006/relationships/hyperlink" Target="https://docs.cngn.co/going-live" TargetMode="External"/><Relationship Id="rId13" Type="http://schemas.openxmlformats.org/officeDocument/2006/relationships/hyperlink" Target="https://ngxgroup.com/ngx-download/status-of-trading-license-holders-2/" TargetMode="External"/><Relationship Id="rId14" Type="http://schemas.openxmlformats.org/officeDocument/2006/relationships/hyperlink" Target="https://colosseum.com/projects/explore/crafts-1" TargetMode="External"/><Relationship Id="rId15" Type="http://schemas.openxmlformats.org/officeDocument/2006/relationships/hyperlink" Target="https://colosseum.com/projects/explore/credible-finance-1" TargetMode="External"/><Relationship Id="rId16" Type="http://schemas.openxmlformats.org/officeDocument/2006/relationships/slideLayout" Target="../slideLayouts/slideLayout1.xml"/><Relationship Id="rId1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COMPANY HYPOTHESIS</a:t>
            </a:r>
            <a:endParaRPr lang="en-US" sz="1000" dirty="0"/>
          </a:p>
        </p:txBody>
      </p:sp>
      <p:sp>
        <p:nvSpPr>
          <p:cNvPr id="3" name="Text 1"/>
          <p:cNvSpPr/>
          <p:nvPr/>
        </p:nvSpPr>
        <p:spPr>
          <a:xfrm>
            <a:off x="502920" y="658368"/>
            <a:ext cx="11109960" cy="1005840"/>
          </a:xfrm>
          <a:prstGeom prst="rect">
            <a:avLst/>
          </a:prstGeom>
          <a:noFill/>
          <a:ln/>
        </p:spPr>
        <p:txBody>
          <a:bodyPr wrap="square" lIns="0" tIns="0" rIns="0" bIns="0" rtlCol="0" anchor="t"/>
          <a:lstStyle/>
          <a:p>
            <a:pPr indent="0" marL="0">
              <a:lnSpc>
                <a:spcPct val="100000"/>
              </a:lnSpc>
              <a:buNone/>
            </a:pPr>
            <a:r>
              <a:rPr lang="en-US" sz="3100" b="1" dirty="0">
                <a:solidFill>
                  <a:srgbClr val="12233D"/>
                </a:solidFill>
                <a:latin typeface="Aptos Display" pitchFamily="34" charset="0"/>
                <a:ea typeface="Aptos Display" pitchFamily="34" charset="-122"/>
                <a:cs typeface="Aptos Display" pitchFamily="34" charset="-120"/>
              </a:rPr>
              <a:t>Broker infrastructure for</a:t>
            </a:r>
            <a:endParaRPr lang="en-US" sz="3100" dirty="0"/>
          </a:p>
          <a:p>
            <a:pPr indent="0" marL="0">
              <a:lnSpc>
                <a:spcPct val="100000"/>
              </a:lnSpc>
              <a:buNone/>
            </a:pPr>
            <a:r>
              <a:rPr lang="en-US" sz="3100" b="1" dirty="0">
                <a:solidFill>
                  <a:srgbClr val="12233D"/>
                </a:solidFill>
                <a:latin typeface="Aptos Display" pitchFamily="34" charset="0"/>
                <a:ea typeface="Aptos Display" pitchFamily="34" charset="-122"/>
                <a:cs typeface="Aptos Display" pitchFamily="34" charset="-120"/>
              </a:rPr>
              <a:t>cNGN-funded distribution</a:t>
            </a:r>
            <a:endParaRPr lang="en-US" sz="3100" dirty="0"/>
          </a:p>
        </p:txBody>
      </p:sp>
      <p:sp>
        <p:nvSpPr>
          <p:cNvPr id="4" name="Text 2"/>
          <p:cNvSpPr/>
          <p:nvPr/>
        </p:nvSpPr>
        <p:spPr>
          <a:xfrm>
            <a:off x="502920" y="1773936"/>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First customer: a Nigerian broker or issuing intermediary.</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12s  ·  01</a:t>
            </a:r>
            <a:endParaRPr lang="en-US" sz="1000" dirty="0"/>
          </a:p>
        </p:txBody>
      </p:sp>
      <p:pic>
        <p:nvPicPr>
          <p:cNvPr id="8" name="Image 0" descr="/home/dyenaan/rabovel/rabovel-demo/rabovel-FE/public/Rabovel.png">    </p:cNvPr>
          <p:cNvPicPr>
            <a:picLocks noChangeAspect="1"/>
          </p:cNvPicPr>
          <p:nvPr/>
        </p:nvPicPr>
        <p:blipFill>
          <a:blip r:embed="rId1"/>
          <a:stretch>
            <a:fillRect/>
          </a:stretch>
        </p:blipFill>
        <p:spPr>
          <a:xfrm>
            <a:off x="502920" y="2176272"/>
            <a:ext cx="3154680" cy="686527"/>
          </a:xfrm>
          <a:prstGeom prst="rect">
            <a:avLst/>
          </a:prstGeom>
        </p:spPr>
      </p:pic>
      <p:sp>
        <p:nvSpPr>
          <p:cNvPr id="9" name="Shape 5"/>
          <p:cNvSpPr/>
          <p:nvPr/>
        </p:nvSpPr>
        <p:spPr>
          <a:xfrm>
            <a:off x="502920" y="2953512"/>
            <a:ext cx="7077456" cy="2249424"/>
          </a:xfrm>
          <a:prstGeom prst="roundRect">
            <a:avLst>
              <a:gd name="adj" fmla="val 4065"/>
            </a:avLst>
          </a:prstGeom>
          <a:solidFill>
            <a:srgbClr val="EAF0FF"/>
          </a:solidFill>
          <a:ln w="9525">
            <a:solidFill>
              <a:srgbClr val="EAF0FF"/>
            </a:solidFill>
            <a:prstDash val="solid"/>
          </a:ln>
        </p:spPr>
      </p:sp>
      <p:sp>
        <p:nvSpPr>
          <p:cNvPr id="10" name="Text 6"/>
          <p:cNvSpPr/>
          <p:nvPr/>
        </p:nvSpPr>
        <p:spPr>
          <a:xfrm>
            <a:off x="777240" y="3264408"/>
            <a:ext cx="6510528" cy="365760"/>
          </a:xfrm>
          <a:prstGeom prst="rect">
            <a:avLst/>
          </a:prstGeom>
          <a:noFill/>
          <a:ln/>
        </p:spPr>
        <p:txBody>
          <a:bodyPr wrap="square" lIns="0" tIns="0" rIns="0" bIns="0" rtlCol="0" anchor="t"/>
          <a:lstStyle/>
          <a:p>
            <a:pPr indent="0" marL="0">
              <a:lnSpc>
                <a:spcPct val="100000"/>
              </a:lnSpc>
              <a:buNone/>
            </a:pPr>
            <a:r>
              <a:rPr lang="en-US" sz="1600" b="1" dirty="0">
                <a:solidFill>
                  <a:srgbClr val="4175FF"/>
                </a:solidFill>
                <a:latin typeface="Aptos" pitchFamily="34" charset="0"/>
                <a:ea typeface="Aptos" pitchFamily="34" charset="-122"/>
                <a:cs typeface="Aptos" pitchFamily="34" charset="-120"/>
              </a:rPr>
              <a:t>FUNDING  →  DELIVERY  →  OPERATIONS</a:t>
            </a:r>
            <a:endParaRPr lang="en-US" sz="1600" dirty="0"/>
          </a:p>
        </p:txBody>
      </p:sp>
      <p:sp>
        <p:nvSpPr>
          <p:cNvPr id="11" name="Text 7"/>
          <p:cNvSpPr/>
          <p:nvPr/>
        </p:nvSpPr>
        <p:spPr>
          <a:xfrm>
            <a:off x="777240" y="3849624"/>
            <a:ext cx="6473952" cy="987552"/>
          </a:xfrm>
          <a:prstGeom prst="rect">
            <a:avLst/>
          </a:prstGeom>
          <a:noFill/>
          <a:ln/>
        </p:spPr>
        <p:txBody>
          <a:bodyPr wrap="square" lIns="0" tIns="0" rIns="0" bIns="0" rtlCol="0" anchor="t"/>
          <a:lstStyle/>
          <a:p>
            <a:pPr indent="0" marL="0">
              <a:lnSpc>
                <a:spcPct val="100000"/>
              </a:lnSpc>
              <a:buNone/>
            </a:pPr>
            <a:r>
              <a:rPr lang="en-US" sz="2600" b="1" dirty="0">
                <a:solidFill>
                  <a:srgbClr val="12233D"/>
                </a:solidFill>
                <a:latin typeface="Aptos" pitchFamily="34" charset="0"/>
                <a:ea typeface="Aptos" pitchFamily="34" charset="-122"/>
                <a:cs typeface="Aptos" pitchFamily="34" charset="-120"/>
              </a:rPr>
              <a:t>Build around the intermediary’s</a:t>
            </a:r>
            <a:endParaRPr lang="en-US" sz="2600" dirty="0"/>
          </a:p>
          <a:p>
            <a:pPr indent="0" marL="0">
              <a:lnSpc>
                <a:spcPct val="100000"/>
              </a:lnSpc>
              <a:buNone/>
            </a:pPr>
            <a:r>
              <a:rPr lang="en-US" sz="2600" b="1" dirty="0">
                <a:solidFill>
                  <a:srgbClr val="12233D"/>
                </a:solidFill>
                <a:latin typeface="Aptos" pitchFamily="34" charset="0"/>
                <a:ea typeface="Aptos" pitchFamily="34" charset="-122"/>
                <a:cs typeface="Aptos" pitchFamily="34" charset="-120"/>
              </a:rPr>
              <a:t>measurable operational job.</a:t>
            </a:r>
            <a:endParaRPr lang="en-US" sz="2600" dirty="0"/>
          </a:p>
        </p:txBody>
      </p:sp>
      <p:sp>
        <p:nvSpPr>
          <p:cNvPr id="12" name="Shape 8"/>
          <p:cNvSpPr/>
          <p:nvPr/>
        </p:nvSpPr>
        <p:spPr>
          <a:xfrm>
            <a:off x="7882128" y="2194560"/>
            <a:ext cx="3767328" cy="3008376"/>
          </a:xfrm>
          <a:prstGeom prst="roundRect">
            <a:avLst>
              <a:gd name="adj" fmla="val 3040"/>
            </a:avLst>
          </a:prstGeom>
          <a:solidFill>
            <a:srgbClr val="12233D"/>
          </a:solidFill>
          <a:ln w="9525">
            <a:solidFill>
              <a:srgbClr val="12233D"/>
            </a:solidFill>
            <a:prstDash val="solid"/>
          </a:ln>
        </p:spPr>
      </p:sp>
      <p:sp>
        <p:nvSpPr>
          <p:cNvPr id="13" name="Text 9"/>
          <p:cNvSpPr/>
          <p:nvPr/>
        </p:nvSpPr>
        <p:spPr>
          <a:xfrm>
            <a:off x="8174736" y="2532888"/>
            <a:ext cx="3108960" cy="292608"/>
          </a:xfrm>
          <a:prstGeom prst="rect">
            <a:avLst/>
          </a:prstGeom>
          <a:noFill/>
          <a:ln/>
        </p:spPr>
        <p:txBody>
          <a:bodyPr wrap="square" lIns="0" tIns="0" rIns="0" bIns="0" rtlCol="0" anchor="t"/>
          <a:lstStyle/>
          <a:p>
            <a:pPr indent="0" marL="0">
              <a:lnSpc>
                <a:spcPct val="100000"/>
              </a:lnSpc>
              <a:buNone/>
            </a:pPr>
            <a:r>
              <a:rPr lang="en-US" sz="1400" b="1" dirty="0">
                <a:solidFill>
                  <a:srgbClr val="FFFFFF"/>
                </a:solidFill>
                <a:latin typeface="Aptos" pitchFamily="34" charset="0"/>
                <a:ea typeface="Aptos" pitchFamily="34" charset="-122"/>
                <a:cs typeface="Aptos" pitchFamily="34" charset="-120"/>
              </a:rPr>
              <a:t>DEMO ONLY</a:t>
            </a:r>
            <a:endParaRPr lang="en-US" sz="1400" dirty="0"/>
          </a:p>
        </p:txBody>
      </p:sp>
      <p:sp>
        <p:nvSpPr>
          <p:cNvPr id="14" name="Text 10"/>
          <p:cNvSpPr/>
          <p:nvPr/>
        </p:nvSpPr>
        <p:spPr>
          <a:xfrm>
            <a:off x="8174736" y="3163824"/>
            <a:ext cx="3108960" cy="1225296"/>
          </a:xfrm>
          <a:prstGeom prst="rect">
            <a:avLst/>
          </a:prstGeom>
          <a:noFill/>
          <a:ln/>
        </p:spPr>
        <p:txBody>
          <a:bodyPr wrap="square" lIns="0" tIns="0" rIns="0" bIns="0" rtlCol="0" anchor="t"/>
          <a:lstStyle/>
          <a:p>
            <a:pPr indent="0" marL="0">
              <a:lnSpc>
                <a:spcPct val="100000"/>
              </a:lnSpc>
              <a:buNone/>
            </a:pPr>
            <a:r>
              <a:rPr lang="en-US" sz="2400" b="1" dirty="0">
                <a:solidFill>
                  <a:srgbClr val="FFFFFF"/>
                </a:solidFill>
                <a:latin typeface="Aptos" pitchFamily="34" charset="0"/>
                <a:ea typeface="Aptos" pitchFamily="34" charset="-122"/>
                <a:cs typeface="Aptos" pitchFamily="34" charset="-120"/>
              </a:rPr>
              <a:t>No real activity or</a:t>
            </a:r>
            <a:endParaRPr lang="en-US" sz="2400" dirty="0"/>
          </a:p>
          <a:p>
            <a:pPr indent="0" marL="0">
              <a:lnSpc>
                <a:spcPct val="100000"/>
              </a:lnSpc>
              <a:buNone/>
            </a:pPr>
            <a:r>
              <a:rPr lang="en-US" sz="2400" b="1" dirty="0">
                <a:solidFill>
                  <a:srgbClr val="FFFFFF"/>
                </a:solidFill>
                <a:latin typeface="Aptos" pitchFamily="34" charset="0"/>
                <a:ea typeface="Aptos" pitchFamily="34" charset="-122"/>
                <a:cs typeface="Aptos" pitchFamily="34" charset="-120"/>
              </a:rPr>
              <a:t>commercial traction</a:t>
            </a:r>
            <a:endParaRPr lang="en-US" sz="2400" dirty="0"/>
          </a:p>
          <a:p>
            <a:pPr indent="0" marL="0">
              <a:lnSpc>
                <a:spcPct val="100000"/>
              </a:lnSpc>
              <a:buNone/>
            </a:pPr>
            <a:r>
              <a:rPr lang="en-US" sz="2400" b="1" dirty="0">
                <a:solidFill>
                  <a:srgbClr val="FFFFFF"/>
                </a:solidFill>
                <a:latin typeface="Aptos" pitchFamily="34" charset="0"/>
                <a:ea typeface="Aptos" pitchFamily="34" charset="-122"/>
                <a:cs typeface="Aptos" pitchFamily="34" charset="-120"/>
              </a:rPr>
              <a:t>established.</a:t>
            </a:r>
            <a:endParaRPr lang="en-US" sz="2400" dirty="0"/>
          </a:p>
        </p:txBody>
      </p:sp>
      <p:sp>
        <p:nvSpPr>
          <p:cNvPr id="15" name="Text 11"/>
          <p:cNvSpPr/>
          <p:nvPr/>
        </p:nvSpPr>
        <p:spPr>
          <a:xfrm>
            <a:off x="8174736" y="4608576"/>
            <a:ext cx="2926080" cy="356616"/>
          </a:xfrm>
          <a:prstGeom prst="rect">
            <a:avLst/>
          </a:prstGeom>
          <a:noFill/>
          <a:ln/>
        </p:spPr>
        <p:txBody>
          <a:bodyPr wrap="square" lIns="0" tIns="0" rIns="0" bIns="0" rtlCol="0" anchor="t"/>
          <a:lstStyle/>
          <a:p>
            <a:pPr indent="0" marL="0">
              <a:lnSpc>
                <a:spcPct val="100000"/>
              </a:lnSpc>
              <a:buNone/>
            </a:pPr>
            <a:r>
              <a:rPr lang="en-US" sz="1200" dirty="0">
                <a:solidFill>
                  <a:srgbClr val="B9C8E4"/>
                </a:solidFill>
                <a:latin typeface="Aptos" pitchFamily="34" charset="0"/>
                <a:ea typeface="Aptos" pitchFamily="34" charset="-122"/>
                <a:cs typeface="Aptos" pitchFamily="34" charset="-120"/>
              </a:rPr>
              <a:t>Evidence + hypotheses + founder prompts</a:t>
            </a:r>
            <a:endParaRPr lang="en-US" sz="1200" dirty="0"/>
          </a:p>
        </p:txBody>
      </p:sp>
      <p:sp>
        <p:nvSpPr>
          <p:cNvPr id="16" name="Shape 12"/>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17" name="Text 13"/>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18" name="Text 14"/>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Describe the buyer and one job Rabovel helps it complete.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CUSTOMER PROBLEM</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Which part of the workflow is costly?</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The customer pain still needs firsthand evidence.</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18s  ·  02</a:t>
            </a:r>
            <a:endParaRPr lang="en-US" sz="1000" dirty="0"/>
          </a:p>
        </p:txBody>
      </p:sp>
      <p:sp>
        <p:nvSpPr>
          <p:cNvPr id="8" name="Shape 5"/>
          <p:cNvSpPr/>
          <p:nvPr/>
        </p:nvSpPr>
        <p:spPr>
          <a:xfrm>
            <a:off x="502920" y="2304288"/>
            <a:ext cx="2638044" cy="3017520"/>
          </a:xfrm>
          <a:prstGeom prst="roundRect">
            <a:avLst>
              <a:gd name="adj" fmla="val 3466"/>
            </a:avLst>
          </a:prstGeom>
          <a:solidFill>
            <a:srgbClr val="FFFFFF"/>
          </a:solidFill>
          <a:ln w="9525">
            <a:solidFill>
              <a:srgbClr val="D9E2F0"/>
            </a:solidFill>
            <a:prstDash val="solid"/>
          </a:ln>
        </p:spPr>
      </p:sp>
      <p:sp>
        <p:nvSpPr>
          <p:cNvPr id="9" name="Text 6"/>
          <p:cNvSpPr/>
          <p:nvPr/>
        </p:nvSpPr>
        <p:spPr>
          <a:xfrm>
            <a:off x="704088" y="2514600"/>
            <a:ext cx="2235708" cy="548640"/>
          </a:xfrm>
          <a:prstGeom prst="rect">
            <a:avLst/>
          </a:prstGeom>
          <a:noFill/>
          <a:ln/>
        </p:spPr>
        <p:txBody>
          <a:bodyPr wrap="square" lIns="0" tIns="0" rIns="0" bIns="0" rtlCol="0" anchor="t"/>
          <a:lstStyle/>
          <a:p>
            <a:pPr indent="0" marL="0">
              <a:lnSpc>
                <a:spcPct val="100000"/>
              </a:lnSpc>
              <a:buNone/>
            </a:pPr>
            <a:r>
              <a:rPr lang="en-US" sz="3200" b="1" dirty="0">
                <a:solidFill>
                  <a:srgbClr val="4175FF"/>
                </a:solidFill>
                <a:latin typeface="Aptos" pitchFamily="34" charset="0"/>
                <a:ea typeface="Aptos" pitchFamily="34" charset="-122"/>
                <a:cs typeface="Aptos" pitchFamily="34" charset="-120"/>
              </a:rPr>
              <a:t>01</a:t>
            </a:r>
            <a:endParaRPr lang="en-US" sz="3200" dirty="0"/>
          </a:p>
        </p:txBody>
      </p:sp>
      <p:sp>
        <p:nvSpPr>
          <p:cNvPr id="10" name="Text 7"/>
          <p:cNvSpPr/>
          <p:nvPr/>
        </p:nvSpPr>
        <p:spPr>
          <a:xfrm>
            <a:off x="704088" y="3145536"/>
            <a:ext cx="2235708"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Funding</a:t>
            </a:r>
            <a:endParaRPr lang="en-US" sz="2000" dirty="0"/>
          </a:p>
        </p:txBody>
      </p:sp>
      <p:sp>
        <p:nvSpPr>
          <p:cNvPr id="11" name="Text 8"/>
          <p:cNvSpPr/>
          <p:nvPr/>
        </p:nvSpPr>
        <p:spPr>
          <a:xfrm>
            <a:off x="704088" y="4206240"/>
            <a:ext cx="2235708"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When are funds usable?</a:t>
            </a:r>
            <a:endParaRPr lang="en-US" sz="1500" dirty="0"/>
          </a:p>
          <a:p>
            <a:pPr indent="0" marL="0">
              <a:lnSpc>
                <a:spcPct val="100000"/>
              </a:lnSpc>
              <a:buNone/>
            </a:pPr>
            <a:r>
              <a:rPr lang="en-US" sz="1500" dirty="0">
                <a:solidFill>
                  <a:srgbClr val="50637F"/>
                </a:solidFill>
                <a:latin typeface="Aptos" pitchFamily="34" charset="0"/>
                <a:ea typeface="Aptos" pitchFamily="34" charset="-122"/>
                <a:cs typeface="Aptos" pitchFamily="34" charset="-120"/>
              </a:rPr>
              <a:t>Who matches the deposit?</a:t>
            </a:r>
            <a:endParaRPr lang="en-US" sz="1500" dirty="0"/>
          </a:p>
        </p:txBody>
      </p:sp>
      <p:sp>
        <p:nvSpPr>
          <p:cNvPr id="12" name="Shape 9"/>
          <p:cNvSpPr/>
          <p:nvPr/>
        </p:nvSpPr>
        <p:spPr>
          <a:xfrm>
            <a:off x="3342132" y="2304288"/>
            <a:ext cx="2638044" cy="3017520"/>
          </a:xfrm>
          <a:prstGeom prst="roundRect">
            <a:avLst>
              <a:gd name="adj" fmla="val 3466"/>
            </a:avLst>
          </a:prstGeom>
          <a:solidFill>
            <a:srgbClr val="FFFFFF"/>
          </a:solidFill>
          <a:ln w="9525">
            <a:solidFill>
              <a:srgbClr val="D9E2F0"/>
            </a:solidFill>
            <a:prstDash val="solid"/>
          </a:ln>
        </p:spPr>
      </p:sp>
      <p:sp>
        <p:nvSpPr>
          <p:cNvPr id="13" name="Text 10"/>
          <p:cNvSpPr/>
          <p:nvPr/>
        </p:nvSpPr>
        <p:spPr>
          <a:xfrm>
            <a:off x="3543300" y="2514600"/>
            <a:ext cx="2235708" cy="548640"/>
          </a:xfrm>
          <a:prstGeom prst="rect">
            <a:avLst/>
          </a:prstGeom>
          <a:noFill/>
          <a:ln/>
        </p:spPr>
        <p:txBody>
          <a:bodyPr wrap="square" lIns="0" tIns="0" rIns="0" bIns="0" rtlCol="0" anchor="t"/>
          <a:lstStyle/>
          <a:p>
            <a:pPr indent="0" marL="0">
              <a:lnSpc>
                <a:spcPct val="100000"/>
              </a:lnSpc>
              <a:buNone/>
            </a:pPr>
            <a:r>
              <a:rPr lang="en-US" sz="3200" b="1" dirty="0">
                <a:solidFill>
                  <a:srgbClr val="4175FF"/>
                </a:solidFill>
                <a:latin typeface="Aptos" pitchFamily="34" charset="0"/>
                <a:ea typeface="Aptos" pitchFamily="34" charset="-122"/>
                <a:cs typeface="Aptos" pitchFamily="34" charset="-120"/>
              </a:rPr>
              <a:t>02</a:t>
            </a:r>
            <a:endParaRPr lang="en-US" sz="3200" dirty="0"/>
          </a:p>
        </p:txBody>
      </p:sp>
      <p:sp>
        <p:nvSpPr>
          <p:cNvPr id="14" name="Text 11"/>
          <p:cNvSpPr/>
          <p:nvPr/>
        </p:nvSpPr>
        <p:spPr>
          <a:xfrm>
            <a:off x="3543300" y="3145536"/>
            <a:ext cx="2235708"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Allocation</a:t>
            </a:r>
            <a:endParaRPr lang="en-US" sz="2000" dirty="0"/>
          </a:p>
        </p:txBody>
      </p:sp>
      <p:sp>
        <p:nvSpPr>
          <p:cNvPr id="15" name="Text 12"/>
          <p:cNvSpPr/>
          <p:nvPr/>
        </p:nvSpPr>
        <p:spPr>
          <a:xfrm>
            <a:off x="3543300" y="4206240"/>
            <a:ext cx="2235708"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Who determines entitlement?</a:t>
            </a:r>
            <a:endParaRPr lang="en-US" sz="1500" dirty="0"/>
          </a:p>
          <a:p>
            <a:pPr indent="0" marL="0">
              <a:lnSpc>
                <a:spcPct val="100000"/>
              </a:lnSpc>
              <a:buNone/>
            </a:pPr>
            <a:r>
              <a:rPr lang="en-US" sz="1500" dirty="0">
                <a:solidFill>
                  <a:srgbClr val="50637F"/>
                </a:solidFill>
                <a:latin typeface="Aptos" pitchFamily="34" charset="0"/>
                <a:ea typeface="Aptos" pitchFamily="34" charset="-122"/>
                <a:cs typeface="Aptos" pitchFamily="34" charset="-120"/>
              </a:rPr>
              <a:t>What happens to refunds?</a:t>
            </a:r>
            <a:endParaRPr lang="en-US" sz="1500" dirty="0"/>
          </a:p>
        </p:txBody>
      </p:sp>
      <p:sp>
        <p:nvSpPr>
          <p:cNvPr id="16" name="Shape 13"/>
          <p:cNvSpPr/>
          <p:nvPr/>
        </p:nvSpPr>
        <p:spPr>
          <a:xfrm>
            <a:off x="6181344" y="2304288"/>
            <a:ext cx="2638044" cy="3017520"/>
          </a:xfrm>
          <a:prstGeom prst="roundRect">
            <a:avLst>
              <a:gd name="adj" fmla="val 3466"/>
            </a:avLst>
          </a:prstGeom>
          <a:solidFill>
            <a:srgbClr val="FFFFFF"/>
          </a:solidFill>
          <a:ln w="9525">
            <a:solidFill>
              <a:srgbClr val="D9E2F0"/>
            </a:solidFill>
            <a:prstDash val="solid"/>
          </a:ln>
        </p:spPr>
      </p:sp>
      <p:sp>
        <p:nvSpPr>
          <p:cNvPr id="17" name="Text 14"/>
          <p:cNvSpPr/>
          <p:nvPr/>
        </p:nvSpPr>
        <p:spPr>
          <a:xfrm>
            <a:off x="6382512" y="2514600"/>
            <a:ext cx="2235708" cy="548640"/>
          </a:xfrm>
          <a:prstGeom prst="rect">
            <a:avLst/>
          </a:prstGeom>
          <a:noFill/>
          <a:ln/>
        </p:spPr>
        <p:txBody>
          <a:bodyPr wrap="square" lIns="0" tIns="0" rIns="0" bIns="0" rtlCol="0" anchor="t"/>
          <a:lstStyle/>
          <a:p>
            <a:pPr indent="0" marL="0">
              <a:lnSpc>
                <a:spcPct val="100000"/>
              </a:lnSpc>
              <a:buNone/>
            </a:pPr>
            <a:r>
              <a:rPr lang="en-US" sz="3200" b="1" dirty="0">
                <a:solidFill>
                  <a:srgbClr val="4175FF"/>
                </a:solidFill>
                <a:latin typeface="Aptos" pitchFamily="34" charset="0"/>
                <a:ea typeface="Aptos" pitchFamily="34" charset="-122"/>
                <a:cs typeface="Aptos" pitchFamily="34" charset="-120"/>
              </a:rPr>
              <a:t>03</a:t>
            </a:r>
            <a:endParaRPr lang="en-US" sz="3200" dirty="0"/>
          </a:p>
        </p:txBody>
      </p:sp>
      <p:sp>
        <p:nvSpPr>
          <p:cNvPr id="18" name="Text 15"/>
          <p:cNvSpPr/>
          <p:nvPr/>
        </p:nvSpPr>
        <p:spPr>
          <a:xfrm>
            <a:off x="6382512" y="3145536"/>
            <a:ext cx="2235708"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Delivery</a:t>
            </a:r>
            <a:endParaRPr lang="en-US" sz="2000" dirty="0"/>
          </a:p>
        </p:txBody>
      </p:sp>
      <p:sp>
        <p:nvSpPr>
          <p:cNvPr id="19" name="Text 16"/>
          <p:cNvSpPr/>
          <p:nvPr/>
        </p:nvSpPr>
        <p:spPr>
          <a:xfrm>
            <a:off x="6382512" y="4206240"/>
            <a:ext cx="2235708"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Which record proves ownership?</a:t>
            </a:r>
            <a:endParaRPr lang="en-US" sz="1500" dirty="0"/>
          </a:p>
          <a:p>
            <a:pPr indent="0" marL="0">
              <a:lnSpc>
                <a:spcPct val="100000"/>
              </a:lnSpc>
              <a:buNone/>
            </a:pPr>
            <a:r>
              <a:rPr lang="en-US" sz="1500" dirty="0">
                <a:solidFill>
                  <a:srgbClr val="50637F"/>
                </a:solidFill>
                <a:latin typeface="Aptos" pitchFamily="34" charset="0"/>
                <a:ea typeface="Aptos" pitchFamily="34" charset="-122"/>
                <a:cs typeface="Aptos" pitchFamily="34" charset="-120"/>
              </a:rPr>
              <a:t>What can fail?</a:t>
            </a:r>
            <a:endParaRPr lang="en-US" sz="1500" dirty="0"/>
          </a:p>
        </p:txBody>
      </p:sp>
      <p:sp>
        <p:nvSpPr>
          <p:cNvPr id="20" name="Shape 17"/>
          <p:cNvSpPr/>
          <p:nvPr/>
        </p:nvSpPr>
        <p:spPr>
          <a:xfrm>
            <a:off x="9020556" y="2304288"/>
            <a:ext cx="2638044" cy="3017520"/>
          </a:xfrm>
          <a:prstGeom prst="roundRect">
            <a:avLst>
              <a:gd name="adj" fmla="val 3466"/>
            </a:avLst>
          </a:prstGeom>
          <a:solidFill>
            <a:srgbClr val="FFFFFF"/>
          </a:solidFill>
          <a:ln w="9525">
            <a:solidFill>
              <a:srgbClr val="D9E2F0"/>
            </a:solidFill>
            <a:prstDash val="solid"/>
          </a:ln>
        </p:spPr>
      </p:sp>
      <p:sp>
        <p:nvSpPr>
          <p:cNvPr id="21" name="Text 18"/>
          <p:cNvSpPr/>
          <p:nvPr/>
        </p:nvSpPr>
        <p:spPr>
          <a:xfrm>
            <a:off x="9221724" y="2514600"/>
            <a:ext cx="2235708" cy="548640"/>
          </a:xfrm>
          <a:prstGeom prst="rect">
            <a:avLst/>
          </a:prstGeom>
          <a:noFill/>
          <a:ln/>
        </p:spPr>
        <p:txBody>
          <a:bodyPr wrap="square" lIns="0" tIns="0" rIns="0" bIns="0" rtlCol="0" anchor="t"/>
          <a:lstStyle/>
          <a:p>
            <a:pPr indent="0" marL="0">
              <a:lnSpc>
                <a:spcPct val="100000"/>
              </a:lnSpc>
              <a:buNone/>
            </a:pPr>
            <a:r>
              <a:rPr lang="en-US" sz="3200" b="1" dirty="0">
                <a:solidFill>
                  <a:srgbClr val="4175FF"/>
                </a:solidFill>
                <a:latin typeface="Aptos" pitchFamily="34" charset="0"/>
                <a:ea typeface="Aptos" pitchFamily="34" charset="-122"/>
                <a:cs typeface="Aptos" pitchFamily="34" charset="-120"/>
              </a:rPr>
              <a:t>04</a:t>
            </a:r>
            <a:endParaRPr lang="en-US" sz="3200" dirty="0"/>
          </a:p>
        </p:txBody>
      </p:sp>
      <p:sp>
        <p:nvSpPr>
          <p:cNvPr id="22" name="Text 19"/>
          <p:cNvSpPr/>
          <p:nvPr/>
        </p:nvSpPr>
        <p:spPr>
          <a:xfrm>
            <a:off x="9221724" y="3145536"/>
            <a:ext cx="2235708"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Reconciliation</a:t>
            </a:r>
            <a:endParaRPr lang="en-US" sz="2000" dirty="0"/>
          </a:p>
        </p:txBody>
      </p:sp>
      <p:sp>
        <p:nvSpPr>
          <p:cNvPr id="23" name="Text 20"/>
          <p:cNvSpPr/>
          <p:nvPr/>
        </p:nvSpPr>
        <p:spPr>
          <a:xfrm>
            <a:off x="9221724" y="4206240"/>
            <a:ext cx="2235708"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Which records disagree?</a:t>
            </a:r>
            <a:endParaRPr lang="en-US" sz="1500" dirty="0"/>
          </a:p>
          <a:p>
            <a:pPr indent="0" marL="0">
              <a:lnSpc>
                <a:spcPct val="100000"/>
              </a:lnSpc>
              <a:buNone/>
            </a:pPr>
            <a:r>
              <a:rPr lang="en-US" sz="1500" dirty="0">
                <a:solidFill>
                  <a:srgbClr val="50637F"/>
                </a:solidFill>
                <a:latin typeface="Aptos" pitchFamily="34" charset="0"/>
                <a:ea typeface="Aptos" pitchFamily="34" charset="-122"/>
                <a:cs typeface="Aptos" pitchFamily="34" charset="-120"/>
              </a:rPr>
              <a:t>How do operators repair them?</a:t>
            </a:r>
            <a:endParaRPr lang="en-US" sz="1500" dirty="0"/>
          </a:p>
        </p:txBody>
      </p:sp>
      <p:sp>
        <p:nvSpPr>
          <p:cNvPr id="24" name="Shape 21"/>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25" name="Text 22"/>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26" name="Text 23"/>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Add one observed workflow, its baseline and the person responsible.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INSIGHT TO TEST</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Three ingredients; one advantage to prove</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Test the complete workflow against bank-payment/API automation.</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18s  ·  03</a:t>
            </a:r>
            <a:endParaRPr lang="en-US" sz="1000" dirty="0"/>
          </a:p>
        </p:txBody>
      </p:sp>
      <p:sp>
        <p:nvSpPr>
          <p:cNvPr id="8" name="Shape 5"/>
          <p:cNvSpPr/>
          <p:nvPr/>
        </p:nvSpPr>
        <p:spPr>
          <a:xfrm>
            <a:off x="502920" y="2304288"/>
            <a:ext cx="3584448" cy="3017520"/>
          </a:xfrm>
          <a:prstGeom prst="roundRect">
            <a:avLst>
              <a:gd name="adj" fmla="val 3030"/>
            </a:avLst>
          </a:prstGeom>
          <a:solidFill>
            <a:srgbClr val="FFFFFF"/>
          </a:solidFill>
          <a:ln w="9525">
            <a:solidFill>
              <a:srgbClr val="D9E2F0"/>
            </a:solidFill>
            <a:prstDash val="solid"/>
          </a:ln>
        </p:spPr>
      </p:sp>
      <p:sp>
        <p:nvSpPr>
          <p:cNvPr id="9" name="Text 6"/>
          <p:cNvSpPr/>
          <p:nvPr/>
        </p:nvSpPr>
        <p:spPr>
          <a:xfrm>
            <a:off x="704088"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Digital distribution</a:t>
            </a:r>
            <a:endParaRPr lang="en-US" sz="1900" dirty="0"/>
          </a:p>
        </p:txBody>
      </p:sp>
      <p:sp>
        <p:nvSpPr>
          <p:cNvPr id="10" name="Text 7"/>
          <p:cNvSpPr/>
          <p:nvPr/>
        </p:nvSpPr>
        <p:spPr>
          <a:xfrm>
            <a:off x="704088"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An existing Nigerian market</a:t>
            </a:r>
            <a:endParaRPr lang="en-US" sz="2000" dirty="0"/>
          </a:p>
        </p:txBody>
      </p:sp>
      <p:sp>
        <p:nvSpPr>
          <p:cNvPr id="11" name="Text 8"/>
          <p:cNvSpPr/>
          <p:nvPr/>
        </p:nvSpPr>
        <p:spPr>
          <a:xfrm>
            <a:off x="704088"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NGX Invest and broker channels already distribute offers. Digitization is the baseline.</a:t>
            </a:r>
            <a:endParaRPr lang="en-US" sz="1500" dirty="0"/>
          </a:p>
        </p:txBody>
      </p:sp>
      <p:sp>
        <p:nvSpPr>
          <p:cNvPr id="12" name="Shape 9"/>
          <p:cNvSpPr/>
          <p:nvPr/>
        </p:nvSpPr>
        <p:spPr>
          <a:xfrm>
            <a:off x="4288536" y="2304288"/>
            <a:ext cx="3584448" cy="3017520"/>
          </a:xfrm>
          <a:prstGeom prst="roundRect">
            <a:avLst>
              <a:gd name="adj" fmla="val 3030"/>
            </a:avLst>
          </a:prstGeom>
          <a:solidFill>
            <a:srgbClr val="FFFFFF"/>
          </a:solidFill>
          <a:ln w="9525">
            <a:solidFill>
              <a:srgbClr val="D9E2F0"/>
            </a:solidFill>
            <a:prstDash val="solid"/>
          </a:ln>
        </p:spPr>
      </p:sp>
      <p:sp>
        <p:nvSpPr>
          <p:cNvPr id="13" name="Text 10"/>
          <p:cNvSpPr/>
          <p:nvPr/>
        </p:nvSpPr>
        <p:spPr>
          <a:xfrm>
            <a:off x="4489704"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cNGN funding</a:t>
            </a:r>
            <a:endParaRPr lang="en-US" sz="1900" dirty="0"/>
          </a:p>
        </p:txBody>
      </p:sp>
      <p:sp>
        <p:nvSpPr>
          <p:cNvPr id="14" name="Text 11"/>
          <p:cNvSpPr/>
          <p:nvPr/>
        </p:nvSpPr>
        <p:spPr>
          <a:xfrm>
            <a:off x="4489704"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A local-currency onchain leg</a:t>
            </a:r>
            <a:endParaRPr lang="en-US" sz="2000" dirty="0"/>
          </a:p>
        </p:txBody>
      </p:sp>
      <p:sp>
        <p:nvSpPr>
          <p:cNvPr id="15" name="Text 12"/>
          <p:cNvSpPr/>
          <p:nvPr/>
        </p:nvSpPr>
        <p:spPr>
          <a:xfrm>
            <a:off x="4489704"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Provider docs describe funding and redemption. Rabovel has no live merchant connection.</a:t>
            </a:r>
            <a:endParaRPr lang="en-US" sz="1500" dirty="0"/>
          </a:p>
        </p:txBody>
      </p:sp>
      <p:sp>
        <p:nvSpPr>
          <p:cNvPr id="16" name="Shape 13"/>
          <p:cNvSpPr/>
          <p:nvPr/>
        </p:nvSpPr>
        <p:spPr>
          <a:xfrm>
            <a:off x="8074152" y="2304288"/>
            <a:ext cx="3584448" cy="3017520"/>
          </a:xfrm>
          <a:prstGeom prst="roundRect">
            <a:avLst>
              <a:gd name="adj" fmla="val 3030"/>
            </a:avLst>
          </a:prstGeom>
          <a:solidFill>
            <a:srgbClr val="FFFFFF"/>
          </a:solidFill>
          <a:ln w="9525">
            <a:solidFill>
              <a:srgbClr val="D9E2F0"/>
            </a:solidFill>
            <a:prstDash val="solid"/>
          </a:ln>
        </p:spPr>
      </p:sp>
      <p:sp>
        <p:nvSpPr>
          <p:cNvPr id="17" name="Text 14"/>
          <p:cNvSpPr/>
          <p:nvPr/>
        </p:nvSpPr>
        <p:spPr>
          <a:xfrm>
            <a:off x="8275320"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Paired transfers</a:t>
            </a:r>
            <a:endParaRPr lang="en-US" sz="1900" dirty="0"/>
          </a:p>
        </p:txBody>
      </p:sp>
      <p:sp>
        <p:nvSpPr>
          <p:cNvPr id="18" name="Text 15"/>
          <p:cNvSpPr/>
          <p:nvPr/>
        </p:nvSpPr>
        <p:spPr>
          <a:xfrm>
            <a:off x="8275320"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One onchain transaction</a:t>
            </a:r>
            <a:endParaRPr lang="en-US" sz="2000" dirty="0"/>
          </a:p>
        </p:txBody>
      </p:sp>
      <p:sp>
        <p:nvSpPr>
          <p:cNvPr id="19" name="Text 16"/>
          <p:cNvSpPr/>
          <p:nvPr/>
        </p:nvSpPr>
        <p:spPr>
          <a:xfrm>
            <a:off x="8275320"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Payment and token delivery can share a transaction when funds and inventory are prepared.</a:t>
            </a:r>
            <a:endParaRPr lang="en-US" sz="1500" dirty="0"/>
          </a:p>
        </p:txBody>
      </p:sp>
      <p:sp>
        <p:nvSpPr>
          <p:cNvPr id="20" name="Shape 17"/>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21" name="Text 18"/>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22" name="Text 19"/>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Explain the expected benefit, added prefunding cost and how you will measure both.</a:t>
            </a:r>
            <a:endParaRPr lang="en-US" sz="1400" dirty="0"/>
          </a:p>
        </p:txBody>
      </p:sp>
      <p:sp>
        <p:nvSpPr>
          <p:cNvPr id="23" name="Text 20"/>
          <p:cNvSpPr/>
          <p:nvPr/>
        </p:nvSpPr>
        <p:spPr>
          <a:xfrm>
            <a:off x="530352" y="6291072"/>
            <a:ext cx="530352" cy="182880"/>
          </a:xfrm>
          <a:prstGeom prst="rect">
            <a:avLst/>
          </a:prstGeom>
          <a:noFill/>
          <a:ln/>
        </p:spPr>
        <p:txBody>
          <a:bodyPr wrap="square" lIns="0" tIns="0" rIns="0" bIns="0" rtlCol="0" anchor="t"/>
          <a:lstStyle/>
          <a:p>
            <a:pPr indent="0" marL="0">
              <a:lnSpc>
                <a:spcPct val="100000"/>
              </a:lnSpc>
              <a:buNone/>
            </a:pPr>
            <a:r>
              <a:rPr lang="en-US" sz="800" dirty="0">
                <a:solidFill>
                  <a:srgbClr val="50637F"/>
                </a:solidFill>
                <a:latin typeface="Aptos" pitchFamily="34" charset="0"/>
                <a:ea typeface="Aptos" pitchFamily="34" charset="-122"/>
                <a:cs typeface="Aptos" pitchFamily="34" charset="-120"/>
              </a:rPr>
              <a:t>Sources</a:t>
            </a:r>
            <a:endParaRPr lang="en-US" sz="800" dirty="0"/>
          </a:p>
        </p:txBody>
      </p:sp>
      <p:sp>
        <p:nvSpPr>
          <p:cNvPr id="24" name="Text 21">
            <a:hlinkClick r:id="rId1" tooltip=""/>
          </p:cNvPr>
          <p:cNvSpPr/>
          <p:nvPr/>
        </p:nvSpPr>
        <p:spPr>
          <a:xfrm>
            <a:off x="1097280"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S4</a:t>
            </a:r>
            <a:endParaRPr lang="en-US" sz="800" dirty="0"/>
          </a:p>
        </p:txBody>
      </p:sp>
      <p:sp>
        <p:nvSpPr>
          <p:cNvPr id="25" name="Text 22">
            <a:hlinkClick r:id="rId2" tooltip=""/>
          </p:cNvPr>
          <p:cNvSpPr/>
          <p:nvPr/>
        </p:nvSpPr>
        <p:spPr>
          <a:xfrm>
            <a:off x="1572768"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S5</a:t>
            </a:r>
            <a:endParaRPr lang="en-US" sz="800" dirty="0"/>
          </a:p>
        </p:txBody>
      </p:sp>
      <p:sp>
        <p:nvSpPr>
          <p:cNvPr id="26" name="Text 23">
            <a:hlinkClick r:id="rId3" tooltip=""/>
          </p:cNvPr>
          <p:cNvSpPr/>
          <p:nvPr/>
        </p:nvSpPr>
        <p:spPr>
          <a:xfrm>
            <a:off x="2048256"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S14</a:t>
            </a:r>
            <a:endParaRPr lang="en-US" sz="800" dirty="0"/>
          </a:p>
        </p:txBody>
      </p:sp>
      <p:sp>
        <p:nvSpPr>
          <p:cNvPr id="27" name="Text 24">
            <a:hlinkClick r:id="rId4" tooltip=""/>
          </p:cNvPr>
          <p:cNvSpPr/>
          <p:nvPr/>
        </p:nvSpPr>
        <p:spPr>
          <a:xfrm>
            <a:off x="2523744"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S15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PRODUCT AND EXECUTION</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Inspect the two legs of a demo purchase</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Implemented in code; a verified recording is still required.</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24s  ·  04</a:t>
            </a:r>
            <a:endParaRPr lang="en-US" sz="1000" dirty="0"/>
          </a:p>
        </p:txBody>
      </p:sp>
      <p:sp>
        <p:nvSpPr>
          <p:cNvPr id="8" name="Shape 5"/>
          <p:cNvSpPr/>
          <p:nvPr/>
        </p:nvSpPr>
        <p:spPr>
          <a:xfrm>
            <a:off x="502920" y="2286000"/>
            <a:ext cx="5102352" cy="2660904"/>
          </a:xfrm>
          <a:prstGeom prst="roundRect">
            <a:avLst>
              <a:gd name="adj" fmla="val 3436"/>
            </a:avLst>
          </a:prstGeom>
          <a:solidFill>
            <a:srgbClr val="12233D"/>
          </a:solidFill>
          <a:ln w="9525">
            <a:solidFill>
              <a:srgbClr val="12233D"/>
            </a:solidFill>
            <a:prstDash val="solid"/>
          </a:ln>
        </p:spPr>
      </p:sp>
      <p:sp>
        <p:nvSpPr>
          <p:cNvPr id="9" name="Text 6"/>
          <p:cNvSpPr/>
          <p:nvPr/>
        </p:nvSpPr>
        <p:spPr>
          <a:xfrm>
            <a:off x="731520" y="2505456"/>
            <a:ext cx="4599432" cy="256032"/>
          </a:xfrm>
          <a:prstGeom prst="rect">
            <a:avLst/>
          </a:prstGeom>
          <a:noFill/>
          <a:ln/>
        </p:spPr>
        <p:txBody>
          <a:bodyPr wrap="square" lIns="0" tIns="0" rIns="0" bIns="0" rtlCol="0" anchor="t"/>
          <a:lstStyle/>
          <a:p>
            <a:pPr indent="0" marL="0">
              <a:lnSpc>
                <a:spcPct val="100000"/>
              </a:lnSpc>
              <a:buNone/>
            </a:pPr>
            <a:r>
              <a:rPr lang="en-US" sz="1200" b="1" dirty="0">
                <a:solidFill>
                  <a:srgbClr val="B9C8E4"/>
                </a:solidFill>
                <a:latin typeface="Aptos" pitchFamily="34" charset="0"/>
                <a:ea typeface="Aptos" pitchFamily="34" charset="-122"/>
                <a:cs typeface="Aptos" pitchFamily="34" charset="-120"/>
              </a:rPr>
              <a:t>ONE SOLANA TRANSACTION</a:t>
            </a:r>
            <a:endParaRPr lang="en-US" sz="1200" dirty="0"/>
          </a:p>
        </p:txBody>
      </p:sp>
      <p:sp>
        <p:nvSpPr>
          <p:cNvPr id="10" name="Text 7"/>
          <p:cNvSpPr/>
          <p:nvPr/>
        </p:nvSpPr>
        <p:spPr>
          <a:xfrm>
            <a:off x="731520" y="3063240"/>
            <a:ext cx="4590288" cy="566928"/>
          </a:xfrm>
          <a:prstGeom prst="rect">
            <a:avLst/>
          </a:prstGeom>
          <a:noFill/>
          <a:ln/>
        </p:spPr>
        <p:txBody>
          <a:bodyPr wrap="square" lIns="0" tIns="0" rIns="0" bIns="0" rtlCol="0" anchor="t"/>
          <a:lstStyle/>
          <a:p>
            <a:pPr indent="0" marL="0">
              <a:lnSpc>
                <a:spcPct val="100000"/>
              </a:lnSpc>
              <a:buNone/>
            </a:pPr>
            <a:r>
              <a:rPr lang="en-US" sz="2100" b="1" dirty="0">
                <a:solidFill>
                  <a:srgbClr val="FFFFFF"/>
                </a:solidFill>
                <a:latin typeface="Aptos" pitchFamily="34" charset="0"/>
                <a:ea typeface="Aptos" pitchFamily="34" charset="-122"/>
                <a:cs typeface="Aptos" pitchFamily="34" charset="-120"/>
              </a:rPr>
              <a:t>Investor → broker: cNGN payment</a:t>
            </a:r>
            <a:endParaRPr lang="en-US" sz="2100" dirty="0"/>
          </a:p>
        </p:txBody>
      </p:sp>
      <p:sp>
        <p:nvSpPr>
          <p:cNvPr id="11" name="Text 8"/>
          <p:cNvSpPr/>
          <p:nvPr/>
        </p:nvSpPr>
        <p:spPr>
          <a:xfrm>
            <a:off x="731520" y="3703320"/>
            <a:ext cx="274320" cy="320040"/>
          </a:xfrm>
          <a:prstGeom prst="rect">
            <a:avLst/>
          </a:prstGeom>
          <a:noFill/>
          <a:ln/>
        </p:spPr>
        <p:txBody>
          <a:bodyPr wrap="square" lIns="0" tIns="0" rIns="0" bIns="0" rtlCol="0" anchor="t"/>
          <a:lstStyle/>
          <a:p>
            <a:pPr indent="0" marL="0">
              <a:lnSpc>
                <a:spcPct val="100000"/>
              </a:lnSpc>
              <a:buNone/>
            </a:pPr>
            <a:r>
              <a:rPr lang="en-US" sz="2400" dirty="0">
                <a:solidFill>
                  <a:srgbClr val="B9C8E4"/>
                </a:solidFill>
                <a:latin typeface="Aptos" pitchFamily="34" charset="0"/>
                <a:ea typeface="Aptos" pitchFamily="34" charset="-122"/>
                <a:cs typeface="Aptos" pitchFamily="34" charset="-120"/>
              </a:rPr>
              <a:t>+</a:t>
            </a:r>
            <a:endParaRPr lang="en-US" sz="2400" dirty="0"/>
          </a:p>
        </p:txBody>
      </p:sp>
      <p:sp>
        <p:nvSpPr>
          <p:cNvPr id="12" name="Text 9"/>
          <p:cNvSpPr/>
          <p:nvPr/>
        </p:nvSpPr>
        <p:spPr>
          <a:xfrm>
            <a:off x="731520" y="4105656"/>
            <a:ext cx="4590288" cy="603504"/>
          </a:xfrm>
          <a:prstGeom prst="rect">
            <a:avLst/>
          </a:prstGeom>
          <a:noFill/>
          <a:ln/>
        </p:spPr>
        <p:txBody>
          <a:bodyPr wrap="square" lIns="0" tIns="0" rIns="0" bIns="0" rtlCol="0" anchor="t"/>
          <a:lstStyle/>
          <a:p>
            <a:pPr indent="0" marL="0">
              <a:lnSpc>
                <a:spcPct val="100000"/>
              </a:lnSpc>
              <a:buNone/>
            </a:pPr>
            <a:r>
              <a:rPr lang="en-US" sz="2000" b="1" dirty="0">
                <a:solidFill>
                  <a:srgbClr val="FFFFFF"/>
                </a:solidFill>
                <a:latin typeface="Aptos" pitchFamily="34" charset="0"/>
                <a:ea typeface="Aptos" pitchFamily="34" charset="-122"/>
                <a:cs typeface="Aptos" pitchFamily="34" charset="-120"/>
              </a:rPr>
              <a:t>Issuer → investor: whole-unit Token-2022 delivery</a:t>
            </a:r>
            <a:endParaRPr lang="en-US" sz="2000" dirty="0"/>
          </a:p>
        </p:txBody>
      </p:sp>
      <p:sp>
        <p:nvSpPr>
          <p:cNvPr id="13" name="Shape 10"/>
          <p:cNvSpPr/>
          <p:nvPr/>
        </p:nvSpPr>
        <p:spPr>
          <a:xfrm>
            <a:off x="5843016" y="2286000"/>
            <a:ext cx="5815584" cy="2660904"/>
          </a:xfrm>
          <a:prstGeom prst="roundRect">
            <a:avLst>
              <a:gd name="adj" fmla="val 3436"/>
            </a:avLst>
          </a:prstGeom>
          <a:solidFill>
            <a:srgbClr val="FFFFFF"/>
          </a:solidFill>
          <a:ln w="12700">
            <a:solidFill>
              <a:srgbClr val="4175FF"/>
            </a:solidFill>
            <a:prstDash val="solid"/>
          </a:ln>
        </p:spPr>
      </p:sp>
      <p:sp>
        <p:nvSpPr>
          <p:cNvPr id="14" name="Text 11"/>
          <p:cNvSpPr/>
          <p:nvPr/>
        </p:nvSpPr>
        <p:spPr>
          <a:xfrm>
            <a:off x="6135624" y="2615184"/>
            <a:ext cx="5212080" cy="402336"/>
          </a:xfrm>
          <a:prstGeom prst="rect">
            <a:avLst/>
          </a:prstGeom>
          <a:noFill/>
          <a:ln/>
        </p:spPr>
        <p:txBody>
          <a:bodyPr wrap="square" lIns="0" tIns="0" rIns="0" bIns="0" rtlCol="0" anchor="t"/>
          <a:lstStyle/>
          <a:p>
            <a:pPr indent="0" marL="0">
              <a:lnSpc>
                <a:spcPct val="100000"/>
              </a:lnSpc>
              <a:buNone/>
            </a:pPr>
            <a:r>
              <a:rPr lang="en-US" sz="1800" b="1" dirty="0">
                <a:solidFill>
                  <a:srgbClr val="4175FF"/>
                </a:solidFill>
                <a:latin typeface="Aptos" pitchFamily="34" charset="0"/>
                <a:ea typeface="Aptos" pitchFamily="34" charset="-122"/>
                <a:cs typeface="Aptos" pitchFamily="34" charset="-120"/>
              </a:rPr>
              <a:t>ADD VERIFIED PRODUCT CAPTURE</a:t>
            </a:r>
            <a:endParaRPr lang="en-US" sz="1800" dirty="0"/>
          </a:p>
        </p:txBody>
      </p:sp>
      <p:sp>
        <p:nvSpPr>
          <p:cNvPr id="15" name="Text 12"/>
          <p:cNvSpPr/>
          <p:nvPr/>
        </p:nvSpPr>
        <p:spPr>
          <a:xfrm>
            <a:off x="6135624" y="3273552"/>
            <a:ext cx="5212080" cy="1197864"/>
          </a:xfrm>
          <a:prstGeom prst="rect">
            <a:avLst/>
          </a:prstGeom>
          <a:noFill/>
          <a:ln/>
        </p:spPr>
        <p:txBody>
          <a:bodyPr wrap="square" lIns="0" tIns="0" rIns="0" bIns="0" rtlCol="0" anchor="t"/>
          <a:lstStyle/>
          <a:p>
            <a:pPr indent="0" marL="0">
              <a:lnSpc>
                <a:spcPct val="100000"/>
              </a:lnSpc>
              <a:buNone/>
            </a:pPr>
            <a:r>
              <a:rPr lang="en-US" sz="2300" dirty="0">
                <a:solidFill>
                  <a:srgbClr val="50637F"/>
                </a:solidFill>
                <a:latin typeface="Aptos" pitchFamily="34" charset="0"/>
                <a:ea typeface="Aptos" pitchFamily="34" charset="-122"/>
                <a:cs typeface="Aptos" pitchFamily="34" charset="-120"/>
              </a:rPr>
              <a:t>Transaction ID</a:t>
            </a:r>
            <a:endParaRPr lang="en-US" sz="2300" dirty="0"/>
          </a:p>
          <a:p>
            <a:pPr indent="0" marL="0">
              <a:lnSpc>
                <a:spcPct val="100000"/>
              </a:lnSpc>
              <a:buNone/>
            </a:pPr>
            <a:r>
              <a:rPr lang="en-US" sz="2300" dirty="0">
                <a:solidFill>
                  <a:srgbClr val="50637F"/>
                </a:solidFill>
                <a:latin typeface="Aptos" pitchFamily="34" charset="0"/>
                <a:ea typeface="Aptos" pitchFamily="34" charset="-122"/>
                <a:cs typeface="Aptos" pitchFamily="34" charset="-120"/>
              </a:rPr>
              <a:t>Starting + resulting balances</a:t>
            </a:r>
            <a:endParaRPr lang="en-US" sz="2300" dirty="0"/>
          </a:p>
          <a:p>
            <a:pPr indent="0" marL="0">
              <a:lnSpc>
                <a:spcPct val="100000"/>
              </a:lnSpc>
              <a:buNone/>
            </a:pPr>
            <a:r>
              <a:rPr lang="en-US" sz="2300" dirty="0">
                <a:solidFill>
                  <a:srgbClr val="50637F"/>
                </a:solidFill>
                <a:latin typeface="Aptos" pitchFamily="34" charset="0"/>
                <a:ea typeface="Aptos" pitchFamily="34" charset="-122"/>
                <a:cs typeface="Aptos" pitchFamily="34" charset="-120"/>
              </a:rPr>
              <a:t>Actual integrated devnet UI</a:t>
            </a:r>
            <a:endParaRPr lang="en-US" sz="2300" dirty="0"/>
          </a:p>
        </p:txBody>
      </p:sp>
      <p:sp>
        <p:nvSpPr>
          <p:cNvPr id="16" name="Text 13"/>
          <p:cNvSpPr/>
          <p:nvPr/>
        </p:nvSpPr>
        <p:spPr>
          <a:xfrm>
            <a:off x="530352" y="5184648"/>
            <a:ext cx="11064240" cy="256032"/>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Separate boundaries: eligibility preparation · banking · legal ownership</a:t>
            </a:r>
            <a:endParaRPr lang="en-US" sz="1400" dirty="0"/>
          </a:p>
        </p:txBody>
      </p:sp>
      <p:sp>
        <p:nvSpPr>
          <p:cNvPr id="17" name="Shape 14"/>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18" name="Text 15"/>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19" name="Text 16"/>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Insert a verified capture, public transaction ID and before/after balances.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COMPETITIVE POSITION</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Win an operator workflow, not a token category</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Potential differentiation: cNGN + delivery + reconciled intermediary operations.</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17s  ·  05</a:t>
            </a:r>
            <a:endParaRPr lang="en-US" sz="1000" dirty="0"/>
          </a:p>
        </p:txBody>
      </p:sp>
      <p:sp>
        <p:nvSpPr>
          <p:cNvPr id="8" name="Shape 5"/>
          <p:cNvSpPr/>
          <p:nvPr/>
        </p:nvSpPr>
        <p:spPr>
          <a:xfrm>
            <a:off x="502920" y="2240280"/>
            <a:ext cx="2798064" cy="393192"/>
          </a:xfrm>
          <a:prstGeom prst="roundRect">
            <a:avLst>
              <a:gd name="adj" fmla="val 23256"/>
            </a:avLst>
          </a:prstGeom>
          <a:solidFill>
            <a:srgbClr val="12233D"/>
          </a:solidFill>
          <a:ln w="9525">
            <a:solidFill>
              <a:srgbClr val="12233D"/>
            </a:solidFill>
            <a:prstDash val="solid"/>
          </a:ln>
        </p:spPr>
      </p:sp>
      <p:sp>
        <p:nvSpPr>
          <p:cNvPr id="9" name="Text 6"/>
          <p:cNvSpPr/>
          <p:nvPr/>
        </p:nvSpPr>
        <p:spPr>
          <a:xfrm>
            <a:off x="621792" y="2322576"/>
            <a:ext cx="2560320"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Alternative</a:t>
            </a:r>
            <a:endParaRPr lang="en-US" sz="1100" dirty="0"/>
          </a:p>
        </p:txBody>
      </p:sp>
      <p:sp>
        <p:nvSpPr>
          <p:cNvPr id="10" name="Shape 7"/>
          <p:cNvSpPr/>
          <p:nvPr/>
        </p:nvSpPr>
        <p:spPr>
          <a:xfrm>
            <a:off x="3300984" y="2240280"/>
            <a:ext cx="3785616" cy="393192"/>
          </a:xfrm>
          <a:prstGeom prst="roundRect">
            <a:avLst>
              <a:gd name="adj" fmla="val 23256"/>
            </a:avLst>
          </a:prstGeom>
          <a:solidFill>
            <a:srgbClr val="12233D"/>
          </a:solidFill>
          <a:ln w="9525">
            <a:solidFill>
              <a:srgbClr val="12233D"/>
            </a:solidFill>
            <a:prstDash val="solid"/>
          </a:ln>
        </p:spPr>
      </p:sp>
      <p:sp>
        <p:nvSpPr>
          <p:cNvPr id="11" name="Text 8"/>
          <p:cNvSpPr/>
          <p:nvPr/>
        </p:nvSpPr>
        <p:spPr>
          <a:xfrm>
            <a:off x="3419856" y="2322576"/>
            <a:ext cx="3547872"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Existing overlap</a:t>
            </a:r>
            <a:endParaRPr lang="en-US" sz="1100" dirty="0"/>
          </a:p>
        </p:txBody>
      </p:sp>
      <p:sp>
        <p:nvSpPr>
          <p:cNvPr id="12" name="Shape 9"/>
          <p:cNvSpPr/>
          <p:nvPr/>
        </p:nvSpPr>
        <p:spPr>
          <a:xfrm>
            <a:off x="7086600" y="2240280"/>
            <a:ext cx="4572000" cy="393192"/>
          </a:xfrm>
          <a:prstGeom prst="roundRect">
            <a:avLst>
              <a:gd name="adj" fmla="val 23256"/>
            </a:avLst>
          </a:prstGeom>
          <a:solidFill>
            <a:srgbClr val="12233D"/>
          </a:solidFill>
          <a:ln w="9525">
            <a:solidFill>
              <a:srgbClr val="12233D"/>
            </a:solidFill>
            <a:prstDash val="solid"/>
          </a:ln>
        </p:spPr>
      </p:sp>
      <p:sp>
        <p:nvSpPr>
          <p:cNvPr id="13" name="Text 10"/>
          <p:cNvSpPr/>
          <p:nvPr/>
        </p:nvSpPr>
        <p:spPr>
          <a:xfrm>
            <a:off x="7205472" y="2322576"/>
            <a:ext cx="433425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Evidence Rabovel needs</a:t>
            </a:r>
            <a:endParaRPr lang="en-US" sz="1100" dirty="0"/>
          </a:p>
        </p:txBody>
      </p:sp>
      <p:sp>
        <p:nvSpPr>
          <p:cNvPr id="14" name="Shape 11"/>
          <p:cNvSpPr/>
          <p:nvPr/>
        </p:nvSpPr>
        <p:spPr>
          <a:xfrm>
            <a:off x="502920" y="2633472"/>
            <a:ext cx="2798064" cy="704088"/>
          </a:xfrm>
          <a:prstGeom prst="roundRect">
            <a:avLst>
              <a:gd name="adj" fmla="val 12987"/>
            </a:avLst>
          </a:prstGeom>
          <a:solidFill>
            <a:srgbClr val="FFFFFF"/>
          </a:solidFill>
          <a:ln w="9525">
            <a:solidFill>
              <a:srgbClr val="D9E2F0"/>
            </a:solidFill>
            <a:prstDash val="solid"/>
          </a:ln>
        </p:spPr>
      </p:sp>
      <p:sp>
        <p:nvSpPr>
          <p:cNvPr id="15" name="Text 12"/>
          <p:cNvSpPr/>
          <p:nvPr/>
        </p:nvSpPr>
        <p:spPr>
          <a:xfrm>
            <a:off x="621792" y="2752344"/>
            <a:ext cx="2560320" cy="539496"/>
          </a:xfrm>
          <a:prstGeom prst="rect">
            <a:avLst/>
          </a:prstGeom>
          <a:noFill/>
          <a:ln/>
        </p:spPr>
        <p:txBody>
          <a:bodyPr wrap="square" lIns="0" tIns="0" rIns="0" bIns="0" rtlCol="0" anchor="t"/>
          <a:lstStyle/>
          <a:p>
            <a:pPr indent="0" marL="0">
              <a:lnSpc>
                <a:spcPct val="100000"/>
              </a:lnSpc>
              <a:buNone/>
            </a:pPr>
            <a:r>
              <a:rPr lang="en-US" sz="1600" b="1" dirty="0">
                <a:solidFill>
                  <a:srgbClr val="12233D"/>
                </a:solidFill>
                <a:latin typeface="Aptos" pitchFamily="34" charset="0"/>
                <a:ea typeface="Aptos" pitchFamily="34" charset="-122"/>
                <a:cs typeface="Aptos" pitchFamily="34" charset="-120"/>
              </a:rPr>
              <a:t>Broker tools / NGX Invest</a:t>
            </a:r>
            <a:endParaRPr lang="en-US" sz="1600" dirty="0"/>
          </a:p>
        </p:txBody>
      </p:sp>
      <p:sp>
        <p:nvSpPr>
          <p:cNvPr id="16" name="Shape 13"/>
          <p:cNvSpPr/>
          <p:nvPr/>
        </p:nvSpPr>
        <p:spPr>
          <a:xfrm>
            <a:off x="3300984" y="2633472"/>
            <a:ext cx="3785616" cy="704088"/>
          </a:xfrm>
          <a:prstGeom prst="roundRect">
            <a:avLst>
              <a:gd name="adj" fmla="val 12987"/>
            </a:avLst>
          </a:prstGeom>
          <a:solidFill>
            <a:srgbClr val="FFFFFF"/>
          </a:solidFill>
          <a:ln w="9525">
            <a:solidFill>
              <a:srgbClr val="D9E2F0"/>
            </a:solidFill>
            <a:prstDash val="solid"/>
          </a:ln>
        </p:spPr>
      </p:sp>
      <p:sp>
        <p:nvSpPr>
          <p:cNvPr id="17" name="Text 14"/>
          <p:cNvSpPr/>
          <p:nvPr/>
        </p:nvSpPr>
        <p:spPr>
          <a:xfrm>
            <a:off x="3419856" y="2752344"/>
            <a:ext cx="3547872"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Digital primary distribution</a:t>
            </a:r>
            <a:endParaRPr lang="en-US" sz="1600" dirty="0"/>
          </a:p>
        </p:txBody>
      </p:sp>
      <p:sp>
        <p:nvSpPr>
          <p:cNvPr id="18" name="Shape 15"/>
          <p:cNvSpPr/>
          <p:nvPr/>
        </p:nvSpPr>
        <p:spPr>
          <a:xfrm>
            <a:off x="7086600" y="2633472"/>
            <a:ext cx="4572000" cy="704088"/>
          </a:xfrm>
          <a:prstGeom prst="roundRect">
            <a:avLst>
              <a:gd name="adj" fmla="val 12987"/>
            </a:avLst>
          </a:prstGeom>
          <a:solidFill>
            <a:srgbClr val="FFFFFF"/>
          </a:solidFill>
          <a:ln w="9525">
            <a:solidFill>
              <a:srgbClr val="D9E2F0"/>
            </a:solidFill>
            <a:prstDash val="solid"/>
          </a:ln>
        </p:spPr>
      </p:sp>
      <p:sp>
        <p:nvSpPr>
          <p:cNvPr id="19" name="Text 16"/>
          <p:cNvSpPr/>
          <p:nvPr/>
        </p:nvSpPr>
        <p:spPr>
          <a:xfrm>
            <a:off x="7205472" y="2752344"/>
            <a:ext cx="4334256"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Measured integration and operations benefit</a:t>
            </a:r>
            <a:endParaRPr lang="en-US" sz="1600" dirty="0"/>
          </a:p>
        </p:txBody>
      </p:sp>
      <p:sp>
        <p:nvSpPr>
          <p:cNvPr id="20" name="Shape 17"/>
          <p:cNvSpPr/>
          <p:nvPr/>
        </p:nvSpPr>
        <p:spPr>
          <a:xfrm>
            <a:off x="502920" y="3337560"/>
            <a:ext cx="2798064" cy="704088"/>
          </a:xfrm>
          <a:prstGeom prst="roundRect">
            <a:avLst>
              <a:gd name="adj" fmla="val 12987"/>
            </a:avLst>
          </a:prstGeom>
          <a:solidFill>
            <a:srgbClr val="EAF0FF"/>
          </a:solidFill>
          <a:ln w="9525">
            <a:solidFill>
              <a:srgbClr val="D9E2F0"/>
            </a:solidFill>
            <a:prstDash val="solid"/>
          </a:ln>
        </p:spPr>
      </p:sp>
      <p:sp>
        <p:nvSpPr>
          <p:cNvPr id="21" name="Text 18"/>
          <p:cNvSpPr/>
          <p:nvPr/>
        </p:nvSpPr>
        <p:spPr>
          <a:xfrm>
            <a:off x="621792" y="3456432"/>
            <a:ext cx="2560320" cy="539496"/>
          </a:xfrm>
          <a:prstGeom prst="rect">
            <a:avLst/>
          </a:prstGeom>
          <a:noFill/>
          <a:ln/>
        </p:spPr>
        <p:txBody>
          <a:bodyPr wrap="square" lIns="0" tIns="0" rIns="0" bIns="0" rtlCol="0" anchor="t"/>
          <a:lstStyle/>
          <a:p>
            <a:pPr indent="0" marL="0">
              <a:lnSpc>
                <a:spcPct val="100000"/>
              </a:lnSpc>
              <a:buNone/>
            </a:pPr>
            <a:r>
              <a:rPr lang="en-US" sz="1600" b="1" dirty="0">
                <a:solidFill>
                  <a:srgbClr val="12233D"/>
                </a:solidFill>
                <a:latin typeface="Aptos" pitchFamily="34" charset="0"/>
                <a:ea typeface="Aptos" pitchFamily="34" charset="-122"/>
                <a:cs typeface="Aptos" pitchFamily="34" charset="-120"/>
              </a:rPr>
              <a:t>NASD N-DSP</a:t>
            </a:r>
            <a:endParaRPr lang="en-US" sz="1600" dirty="0"/>
          </a:p>
        </p:txBody>
      </p:sp>
      <p:sp>
        <p:nvSpPr>
          <p:cNvPr id="22" name="Shape 19"/>
          <p:cNvSpPr/>
          <p:nvPr/>
        </p:nvSpPr>
        <p:spPr>
          <a:xfrm>
            <a:off x="3300984" y="3337560"/>
            <a:ext cx="3785616" cy="704088"/>
          </a:xfrm>
          <a:prstGeom prst="roundRect">
            <a:avLst>
              <a:gd name="adj" fmla="val 12987"/>
            </a:avLst>
          </a:prstGeom>
          <a:solidFill>
            <a:srgbClr val="EAF0FF"/>
          </a:solidFill>
          <a:ln w="9525">
            <a:solidFill>
              <a:srgbClr val="D9E2F0"/>
            </a:solidFill>
            <a:prstDash val="solid"/>
          </a:ln>
        </p:spPr>
      </p:sp>
      <p:sp>
        <p:nvSpPr>
          <p:cNvPr id="23" name="Text 20"/>
          <p:cNvSpPr/>
          <p:nvPr/>
        </p:nvSpPr>
        <p:spPr>
          <a:xfrm>
            <a:off x="3419856" y="3456432"/>
            <a:ext cx="3547872"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Local tokenized securities infrastructure</a:t>
            </a:r>
            <a:endParaRPr lang="en-US" sz="1600" dirty="0"/>
          </a:p>
        </p:txBody>
      </p:sp>
      <p:sp>
        <p:nvSpPr>
          <p:cNvPr id="24" name="Shape 21"/>
          <p:cNvSpPr/>
          <p:nvPr/>
        </p:nvSpPr>
        <p:spPr>
          <a:xfrm>
            <a:off x="7086600" y="3337560"/>
            <a:ext cx="4572000" cy="704088"/>
          </a:xfrm>
          <a:prstGeom prst="roundRect">
            <a:avLst>
              <a:gd name="adj" fmla="val 12987"/>
            </a:avLst>
          </a:prstGeom>
          <a:solidFill>
            <a:srgbClr val="EAF0FF"/>
          </a:solidFill>
          <a:ln w="9525">
            <a:solidFill>
              <a:srgbClr val="D9E2F0"/>
            </a:solidFill>
            <a:prstDash val="solid"/>
          </a:ln>
        </p:spPr>
      </p:sp>
      <p:sp>
        <p:nvSpPr>
          <p:cNvPr id="25" name="Text 22"/>
          <p:cNvSpPr/>
          <p:nvPr/>
        </p:nvSpPr>
        <p:spPr>
          <a:xfrm>
            <a:off x="7205472" y="3456432"/>
            <a:ext cx="4334256"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A specific unmet job or partner path</a:t>
            </a:r>
            <a:endParaRPr lang="en-US" sz="1600" dirty="0"/>
          </a:p>
        </p:txBody>
      </p:sp>
      <p:sp>
        <p:nvSpPr>
          <p:cNvPr id="26" name="Shape 23"/>
          <p:cNvSpPr/>
          <p:nvPr/>
        </p:nvSpPr>
        <p:spPr>
          <a:xfrm>
            <a:off x="502920" y="4041648"/>
            <a:ext cx="2798064" cy="704088"/>
          </a:xfrm>
          <a:prstGeom prst="roundRect">
            <a:avLst>
              <a:gd name="adj" fmla="val 12987"/>
            </a:avLst>
          </a:prstGeom>
          <a:solidFill>
            <a:srgbClr val="FFFFFF"/>
          </a:solidFill>
          <a:ln w="9525">
            <a:solidFill>
              <a:srgbClr val="D9E2F0"/>
            </a:solidFill>
            <a:prstDash val="solid"/>
          </a:ln>
        </p:spPr>
      </p:sp>
      <p:sp>
        <p:nvSpPr>
          <p:cNvPr id="27" name="Text 24"/>
          <p:cNvSpPr/>
          <p:nvPr/>
        </p:nvSpPr>
        <p:spPr>
          <a:xfrm>
            <a:off x="621792" y="4160520"/>
            <a:ext cx="2560320" cy="539496"/>
          </a:xfrm>
          <a:prstGeom prst="rect">
            <a:avLst/>
          </a:prstGeom>
          <a:noFill/>
          <a:ln/>
        </p:spPr>
        <p:txBody>
          <a:bodyPr wrap="square" lIns="0" tIns="0" rIns="0" bIns="0" rtlCol="0" anchor="t"/>
          <a:lstStyle/>
          <a:p>
            <a:pPr indent="0" marL="0">
              <a:lnSpc>
                <a:spcPct val="100000"/>
              </a:lnSpc>
              <a:buNone/>
            </a:pPr>
            <a:r>
              <a:rPr lang="en-US" sz="1600" b="1" dirty="0">
                <a:solidFill>
                  <a:srgbClr val="12233D"/>
                </a:solidFill>
                <a:latin typeface="Aptos" pitchFamily="34" charset="0"/>
                <a:ea typeface="Aptos" pitchFamily="34" charset="-122"/>
                <a:cs typeface="Aptos" pitchFamily="34" charset="-120"/>
              </a:rPr>
              <a:t>Dinari / xStocks</a:t>
            </a:r>
            <a:endParaRPr lang="en-US" sz="1600" dirty="0"/>
          </a:p>
        </p:txBody>
      </p:sp>
      <p:sp>
        <p:nvSpPr>
          <p:cNvPr id="28" name="Shape 25"/>
          <p:cNvSpPr/>
          <p:nvPr/>
        </p:nvSpPr>
        <p:spPr>
          <a:xfrm>
            <a:off x="3300984" y="4041648"/>
            <a:ext cx="3785616" cy="704088"/>
          </a:xfrm>
          <a:prstGeom prst="roundRect">
            <a:avLst>
              <a:gd name="adj" fmla="val 12987"/>
            </a:avLst>
          </a:prstGeom>
          <a:solidFill>
            <a:srgbClr val="FFFFFF"/>
          </a:solidFill>
          <a:ln w="9525">
            <a:solidFill>
              <a:srgbClr val="D9E2F0"/>
            </a:solidFill>
            <a:prstDash val="solid"/>
          </a:ln>
        </p:spPr>
      </p:sp>
      <p:sp>
        <p:nvSpPr>
          <p:cNvPr id="29" name="Text 26"/>
          <p:cNvSpPr/>
          <p:nvPr/>
        </p:nvSpPr>
        <p:spPr>
          <a:xfrm>
            <a:off x="3419856" y="4160520"/>
            <a:ext cx="3547872"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Equities infrastructure and distribution</a:t>
            </a:r>
            <a:endParaRPr lang="en-US" sz="1600" dirty="0"/>
          </a:p>
        </p:txBody>
      </p:sp>
      <p:sp>
        <p:nvSpPr>
          <p:cNvPr id="30" name="Shape 27"/>
          <p:cNvSpPr/>
          <p:nvPr/>
        </p:nvSpPr>
        <p:spPr>
          <a:xfrm>
            <a:off x="7086600" y="4041648"/>
            <a:ext cx="4572000" cy="704088"/>
          </a:xfrm>
          <a:prstGeom prst="roundRect">
            <a:avLst>
              <a:gd name="adj" fmla="val 12987"/>
            </a:avLst>
          </a:prstGeom>
          <a:solidFill>
            <a:srgbClr val="FFFFFF"/>
          </a:solidFill>
          <a:ln w="9525">
            <a:solidFill>
              <a:srgbClr val="D9E2F0"/>
            </a:solidFill>
            <a:prstDash val="solid"/>
          </a:ln>
        </p:spPr>
      </p:sp>
      <p:sp>
        <p:nvSpPr>
          <p:cNvPr id="31" name="Text 28"/>
          <p:cNvSpPr/>
          <p:nvPr/>
        </p:nvSpPr>
        <p:spPr>
          <a:xfrm>
            <a:off x="7205472" y="4160520"/>
            <a:ext cx="4334256"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Clear local asset rights and lifecycle</a:t>
            </a:r>
            <a:endParaRPr lang="en-US" sz="1600" dirty="0"/>
          </a:p>
        </p:txBody>
      </p:sp>
      <p:sp>
        <p:nvSpPr>
          <p:cNvPr id="32" name="Shape 29"/>
          <p:cNvSpPr/>
          <p:nvPr/>
        </p:nvSpPr>
        <p:spPr>
          <a:xfrm>
            <a:off x="502920" y="4745736"/>
            <a:ext cx="2798064" cy="704088"/>
          </a:xfrm>
          <a:prstGeom prst="roundRect">
            <a:avLst>
              <a:gd name="adj" fmla="val 12987"/>
            </a:avLst>
          </a:prstGeom>
          <a:solidFill>
            <a:srgbClr val="EAF0FF"/>
          </a:solidFill>
          <a:ln w="9525">
            <a:solidFill>
              <a:srgbClr val="D9E2F0"/>
            </a:solidFill>
            <a:prstDash val="solid"/>
          </a:ln>
        </p:spPr>
      </p:sp>
      <p:sp>
        <p:nvSpPr>
          <p:cNvPr id="33" name="Text 30"/>
          <p:cNvSpPr/>
          <p:nvPr/>
        </p:nvSpPr>
        <p:spPr>
          <a:xfrm>
            <a:off x="621792" y="4864608"/>
            <a:ext cx="2560320" cy="539496"/>
          </a:xfrm>
          <a:prstGeom prst="rect">
            <a:avLst/>
          </a:prstGeom>
          <a:noFill/>
          <a:ln/>
        </p:spPr>
        <p:txBody>
          <a:bodyPr wrap="square" lIns="0" tIns="0" rIns="0" bIns="0" rtlCol="0" anchor="t"/>
          <a:lstStyle/>
          <a:p>
            <a:pPr indent="0" marL="0">
              <a:lnSpc>
                <a:spcPct val="100000"/>
              </a:lnSpc>
              <a:buNone/>
            </a:pPr>
            <a:r>
              <a:rPr lang="en-US" sz="1600" b="1" dirty="0">
                <a:solidFill>
                  <a:srgbClr val="12233D"/>
                </a:solidFill>
                <a:latin typeface="Aptos" pitchFamily="34" charset="0"/>
                <a:ea typeface="Aptos" pitchFamily="34" charset="-122"/>
                <a:cs typeface="Aptos" pitchFamily="34" charset="-120"/>
              </a:rPr>
              <a:t>Crafts / Credible Finance</a:t>
            </a:r>
            <a:endParaRPr lang="en-US" sz="1600" dirty="0"/>
          </a:p>
        </p:txBody>
      </p:sp>
      <p:sp>
        <p:nvSpPr>
          <p:cNvPr id="34" name="Shape 31"/>
          <p:cNvSpPr/>
          <p:nvPr/>
        </p:nvSpPr>
        <p:spPr>
          <a:xfrm>
            <a:off x="3300984" y="4745736"/>
            <a:ext cx="3785616" cy="704088"/>
          </a:xfrm>
          <a:prstGeom prst="roundRect">
            <a:avLst>
              <a:gd name="adj" fmla="val 12987"/>
            </a:avLst>
          </a:prstGeom>
          <a:solidFill>
            <a:srgbClr val="EAF0FF"/>
          </a:solidFill>
          <a:ln w="9525">
            <a:solidFill>
              <a:srgbClr val="D9E2F0"/>
            </a:solidFill>
            <a:prstDash val="solid"/>
          </a:ln>
        </p:spPr>
      </p:sp>
      <p:sp>
        <p:nvSpPr>
          <p:cNvPr id="35" name="Text 32"/>
          <p:cNvSpPr/>
          <p:nvPr/>
        </p:nvSpPr>
        <p:spPr>
          <a:xfrm>
            <a:off x="3419856" y="4864608"/>
            <a:ext cx="3547872"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Equity rights / local-fiat operations</a:t>
            </a:r>
            <a:endParaRPr lang="en-US" sz="1600" dirty="0"/>
          </a:p>
        </p:txBody>
      </p:sp>
      <p:sp>
        <p:nvSpPr>
          <p:cNvPr id="36" name="Shape 33"/>
          <p:cNvSpPr/>
          <p:nvPr/>
        </p:nvSpPr>
        <p:spPr>
          <a:xfrm>
            <a:off x="7086600" y="4745736"/>
            <a:ext cx="4572000" cy="704088"/>
          </a:xfrm>
          <a:prstGeom prst="roundRect">
            <a:avLst>
              <a:gd name="adj" fmla="val 12987"/>
            </a:avLst>
          </a:prstGeom>
          <a:solidFill>
            <a:srgbClr val="EAF0FF"/>
          </a:solidFill>
          <a:ln w="9525">
            <a:solidFill>
              <a:srgbClr val="D9E2F0"/>
            </a:solidFill>
            <a:prstDash val="solid"/>
          </a:ln>
        </p:spPr>
      </p:sp>
      <p:sp>
        <p:nvSpPr>
          <p:cNvPr id="37" name="Text 34"/>
          <p:cNvSpPr/>
          <p:nvPr/>
        </p:nvSpPr>
        <p:spPr>
          <a:xfrm>
            <a:off x="7205472" y="4864608"/>
            <a:ext cx="4334256" cy="539496"/>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Reliable execution and buyer demand</a:t>
            </a:r>
            <a:endParaRPr lang="en-US" sz="1600" dirty="0"/>
          </a:p>
        </p:txBody>
      </p:sp>
      <p:sp>
        <p:nvSpPr>
          <p:cNvPr id="38" name="Shape 35"/>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39" name="Text 36"/>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40" name="Text 37"/>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Name the buyer’s current alternative and the outcome that would justify switching.</a:t>
            </a:r>
            <a:endParaRPr lang="en-US" sz="1400" dirty="0"/>
          </a:p>
        </p:txBody>
      </p:sp>
      <p:sp>
        <p:nvSpPr>
          <p:cNvPr id="41" name="Text 38"/>
          <p:cNvSpPr/>
          <p:nvPr/>
        </p:nvSpPr>
        <p:spPr>
          <a:xfrm>
            <a:off x="530352" y="6291072"/>
            <a:ext cx="530352" cy="182880"/>
          </a:xfrm>
          <a:prstGeom prst="rect">
            <a:avLst/>
          </a:prstGeom>
          <a:noFill/>
          <a:ln/>
        </p:spPr>
        <p:txBody>
          <a:bodyPr wrap="square" lIns="0" tIns="0" rIns="0" bIns="0" rtlCol="0" anchor="t"/>
          <a:lstStyle/>
          <a:p>
            <a:pPr indent="0" marL="0">
              <a:lnSpc>
                <a:spcPct val="100000"/>
              </a:lnSpc>
              <a:buNone/>
            </a:pPr>
            <a:r>
              <a:rPr lang="en-US" sz="800" dirty="0">
                <a:solidFill>
                  <a:srgbClr val="50637F"/>
                </a:solidFill>
                <a:latin typeface="Aptos" pitchFamily="34" charset="0"/>
                <a:ea typeface="Aptos" pitchFamily="34" charset="-122"/>
                <a:cs typeface="Aptos" pitchFamily="34" charset="-120"/>
              </a:rPr>
              <a:t>Sources</a:t>
            </a:r>
            <a:endParaRPr lang="en-US" sz="800" dirty="0"/>
          </a:p>
        </p:txBody>
      </p:sp>
      <p:sp>
        <p:nvSpPr>
          <p:cNvPr id="42" name="Text 39">
            <a:hlinkClick r:id="rId1" tooltip=""/>
          </p:cNvPr>
          <p:cNvSpPr/>
          <p:nvPr/>
        </p:nvSpPr>
        <p:spPr>
          <a:xfrm>
            <a:off x="1097280"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S5</a:t>
            </a:r>
            <a:endParaRPr lang="en-US" sz="800" dirty="0"/>
          </a:p>
        </p:txBody>
      </p:sp>
      <p:sp>
        <p:nvSpPr>
          <p:cNvPr id="43" name="Text 40">
            <a:hlinkClick r:id="rId2" tooltip=""/>
          </p:cNvPr>
          <p:cNvSpPr/>
          <p:nvPr/>
        </p:nvSpPr>
        <p:spPr>
          <a:xfrm>
            <a:off x="1572768"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S6</a:t>
            </a:r>
            <a:endParaRPr lang="en-US" sz="800" dirty="0"/>
          </a:p>
        </p:txBody>
      </p:sp>
      <p:sp>
        <p:nvSpPr>
          <p:cNvPr id="44" name="Text 41">
            <a:hlinkClick r:id="rId3" tooltip=""/>
          </p:cNvPr>
          <p:cNvSpPr/>
          <p:nvPr/>
        </p:nvSpPr>
        <p:spPr>
          <a:xfrm>
            <a:off x="2048256"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S7</a:t>
            </a:r>
            <a:endParaRPr lang="en-US" sz="800" dirty="0"/>
          </a:p>
        </p:txBody>
      </p:sp>
      <p:sp>
        <p:nvSpPr>
          <p:cNvPr id="45" name="Text 42">
            <a:hlinkClick r:id="rId4" tooltip=""/>
          </p:cNvPr>
          <p:cNvSpPr/>
          <p:nvPr/>
        </p:nvSpPr>
        <p:spPr>
          <a:xfrm>
            <a:off x="2523744"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S8</a:t>
            </a:r>
            <a:endParaRPr lang="en-US" sz="800" dirty="0"/>
          </a:p>
        </p:txBody>
      </p:sp>
      <p:sp>
        <p:nvSpPr>
          <p:cNvPr id="46" name="Text 43">
            <a:hlinkClick r:id="rId5" tooltip=""/>
          </p:cNvPr>
          <p:cNvSpPr/>
          <p:nvPr/>
        </p:nvSpPr>
        <p:spPr>
          <a:xfrm>
            <a:off x="2999232"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S18</a:t>
            </a:r>
            <a:endParaRPr lang="en-US" sz="800" dirty="0"/>
          </a:p>
        </p:txBody>
      </p:sp>
      <p:sp>
        <p:nvSpPr>
          <p:cNvPr id="47" name="Text 44">
            <a:hlinkClick r:id="rId6" tooltip=""/>
          </p:cNvPr>
          <p:cNvSpPr/>
          <p:nvPr/>
        </p:nvSpPr>
        <p:spPr>
          <a:xfrm>
            <a:off x="3474720"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S19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MARKET AND BUSINESS MODEL</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Start with buyer economics</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186 active broker entries are a buyer universe, not qualified demand.</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18s  ·  06</a:t>
            </a:r>
            <a:endParaRPr lang="en-US" sz="1000" dirty="0"/>
          </a:p>
        </p:txBody>
      </p:sp>
      <p:sp>
        <p:nvSpPr>
          <p:cNvPr id="8" name="Shape 5"/>
          <p:cNvSpPr/>
          <p:nvPr/>
        </p:nvSpPr>
        <p:spPr>
          <a:xfrm>
            <a:off x="502920" y="2267712"/>
            <a:ext cx="3584448" cy="1188720"/>
          </a:xfrm>
          <a:prstGeom prst="roundRect">
            <a:avLst>
              <a:gd name="adj" fmla="val 7692"/>
            </a:avLst>
          </a:prstGeom>
          <a:solidFill>
            <a:srgbClr val="FFFFFF"/>
          </a:solidFill>
          <a:ln w="9525">
            <a:solidFill>
              <a:srgbClr val="D9E2F0"/>
            </a:solidFill>
            <a:prstDash val="solid"/>
          </a:ln>
        </p:spPr>
      </p:sp>
      <p:sp>
        <p:nvSpPr>
          <p:cNvPr id="9" name="Text 6"/>
          <p:cNvSpPr/>
          <p:nvPr/>
        </p:nvSpPr>
        <p:spPr>
          <a:xfrm>
            <a:off x="685800" y="2450592"/>
            <a:ext cx="3218688" cy="384048"/>
          </a:xfrm>
          <a:prstGeom prst="rect">
            <a:avLst/>
          </a:prstGeom>
          <a:noFill/>
          <a:ln/>
        </p:spPr>
        <p:txBody>
          <a:bodyPr wrap="square" lIns="0" tIns="0" rIns="0" bIns="0" rtlCol="0" anchor="t"/>
          <a:lstStyle/>
          <a:p>
            <a:pPr indent="0" marL="0">
              <a:lnSpc>
                <a:spcPct val="100000"/>
              </a:lnSpc>
              <a:buNone/>
            </a:pPr>
            <a:r>
              <a:rPr lang="en-US" sz="2500" b="1" dirty="0">
                <a:solidFill>
                  <a:srgbClr val="4175FF"/>
                </a:solidFill>
                <a:latin typeface="Aptos" pitchFamily="34" charset="0"/>
                <a:ea typeface="Aptos" pitchFamily="34" charset="-122"/>
                <a:cs typeface="Aptos" pitchFamily="34" charset="-120"/>
              </a:rPr>
              <a:t>3 firms</a:t>
            </a:r>
            <a:endParaRPr lang="en-US" sz="2500" dirty="0"/>
          </a:p>
        </p:txBody>
      </p:sp>
      <p:sp>
        <p:nvSpPr>
          <p:cNvPr id="10" name="Text 7"/>
          <p:cNvSpPr/>
          <p:nvPr/>
        </p:nvSpPr>
        <p:spPr>
          <a:xfrm>
            <a:off x="685800" y="3008376"/>
            <a:ext cx="3218688" cy="256032"/>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Annual target capacity</a:t>
            </a:r>
            <a:endParaRPr lang="en-US" sz="1300" dirty="0"/>
          </a:p>
        </p:txBody>
      </p:sp>
      <p:sp>
        <p:nvSpPr>
          <p:cNvPr id="11" name="Shape 8"/>
          <p:cNvSpPr/>
          <p:nvPr/>
        </p:nvSpPr>
        <p:spPr>
          <a:xfrm>
            <a:off x="4288536" y="2267712"/>
            <a:ext cx="3584448" cy="1188720"/>
          </a:xfrm>
          <a:prstGeom prst="roundRect">
            <a:avLst>
              <a:gd name="adj" fmla="val 7692"/>
            </a:avLst>
          </a:prstGeom>
          <a:solidFill>
            <a:srgbClr val="FFFFFF"/>
          </a:solidFill>
          <a:ln w="9525">
            <a:solidFill>
              <a:srgbClr val="D9E2F0"/>
            </a:solidFill>
            <a:prstDash val="solid"/>
          </a:ln>
        </p:spPr>
      </p:sp>
      <p:sp>
        <p:nvSpPr>
          <p:cNvPr id="12" name="Text 9"/>
          <p:cNvSpPr/>
          <p:nvPr/>
        </p:nvSpPr>
        <p:spPr>
          <a:xfrm>
            <a:off x="4471416" y="2450592"/>
            <a:ext cx="3218688" cy="384048"/>
          </a:xfrm>
          <a:prstGeom prst="rect">
            <a:avLst/>
          </a:prstGeom>
          <a:noFill/>
          <a:ln/>
        </p:spPr>
        <p:txBody>
          <a:bodyPr wrap="square" lIns="0" tIns="0" rIns="0" bIns="0" rtlCol="0" anchor="t"/>
          <a:lstStyle/>
          <a:p>
            <a:pPr indent="0" marL="0">
              <a:lnSpc>
                <a:spcPct val="100000"/>
              </a:lnSpc>
              <a:buNone/>
            </a:pPr>
            <a:r>
              <a:rPr lang="en-US" sz="2500" b="1" dirty="0">
                <a:solidFill>
                  <a:srgbClr val="4175FF"/>
                </a:solidFill>
                <a:latin typeface="Aptos" pitchFamily="34" charset="0"/>
                <a:ea typeface="Aptos" pitchFamily="34" charset="-122"/>
                <a:cs typeface="Aptos" pitchFamily="34" charset="-120"/>
              </a:rPr>
              <a:t>₦6m / firm</a:t>
            </a:r>
            <a:endParaRPr lang="en-US" sz="2500" dirty="0"/>
          </a:p>
        </p:txBody>
      </p:sp>
      <p:sp>
        <p:nvSpPr>
          <p:cNvPr id="13" name="Text 10"/>
          <p:cNvSpPr/>
          <p:nvPr/>
        </p:nvSpPr>
        <p:spPr>
          <a:xfrm>
            <a:off x="4471416" y="3008376"/>
            <a:ext cx="3218688" cy="256032"/>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Assumed annual fee</a:t>
            </a:r>
            <a:endParaRPr lang="en-US" sz="1300" dirty="0"/>
          </a:p>
        </p:txBody>
      </p:sp>
      <p:sp>
        <p:nvSpPr>
          <p:cNvPr id="14" name="Shape 11"/>
          <p:cNvSpPr/>
          <p:nvPr/>
        </p:nvSpPr>
        <p:spPr>
          <a:xfrm>
            <a:off x="8074152" y="2267712"/>
            <a:ext cx="3584448" cy="1188720"/>
          </a:xfrm>
          <a:prstGeom prst="roundRect">
            <a:avLst>
              <a:gd name="adj" fmla="val 7692"/>
            </a:avLst>
          </a:prstGeom>
          <a:solidFill>
            <a:srgbClr val="FFFFFF"/>
          </a:solidFill>
          <a:ln w="9525">
            <a:solidFill>
              <a:srgbClr val="D9E2F0"/>
            </a:solidFill>
            <a:prstDash val="solid"/>
          </a:ln>
        </p:spPr>
      </p:sp>
      <p:sp>
        <p:nvSpPr>
          <p:cNvPr id="15" name="Text 12"/>
          <p:cNvSpPr/>
          <p:nvPr/>
        </p:nvSpPr>
        <p:spPr>
          <a:xfrm>
            <a:off x="8257032" y="2450592"/>
            <a:ext cx="3218688" cy="384048"/>
          </a:xfrm>
          <a:prstGeom prst="rect">
            <a:avLst/>
          </a:prstGeom>
          <a:noFill/>
          <a:ln/>
        </p:spPr>
        <p:txBody>
          <a:bodyPr wrap="square" lIns="0" tIns="0" rIns="0" bIns="0" rtlCol="0" anchor="t"/>
          <a:lstStyle/>
          <a:p>
            <a:pPr indent="0" marL="0">
              <a:lnSpc>
                <a:spcPct val="100000"/>
              </a:lnSpc>
              <a:buNone/>
            </a:pPr>
            <a:r>
              <a:rPr lang="en-US" sz="2500" b="1" dirty="0">
                <a:solidFill>
                  <a:srgbClr val="4175FF"/>
                </a:solidFill>
                <a:latin typeface="Aptos" pitchFamily="34" charset="0"/>
                <a:ea typeface="Aptos" pitchFamily="34" charset="-122"/>
                <a:cs typeface="Aptos" pitchFamily="34" charset="-120"/>
              </a:rPr>
              <a:t>₦5bn × 5 bps</a:t>
            </a:r>
            <a:endParaRPr lang="en-US" sz="2500" dirty="0"/>
          </a:p>
        </p:txBody>
      </p:sp>
      <p:sp>
        <p:nvSpPr>
          <p:cNvPr id="16" name="Text 13"/>
          <p:cNvSpPr/>
          <p:nvPr/>
        </p:nvSpPr>
        <p:spPr>
          <a:xfrm>
            <a:off x="8257032" y="3008376"/>
            <a:ext cx="3218688" cy="256032"/>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Aggregate annual value fee</a:t>
            </a:r>
            <a:endParaRPr lang="en-US" sz="1300" dirty="0"/>
          </a:p>
        </p:txBody>
      </p:sp>
      <p:sp>
        <p:nvSpPr>
          <p:cNvPr id="17" name="Shape 14"/>
          <p:cNvSpPr/>
          <p:nvPr/>
        </p:nvSpPr>
        <p:spPr>
          <a:xfrm>
            <a:off x="502920" y="3675888"/>
            <a:ext cx="11155680" cy="1344168"/>
          </a:xfrm>
          <a:prstGeom prst="roundRect">
            <a:avLst>
              <a:gd name="adj" fmla="val 6803"/>
            </a:avLst>
          </a:prstGeom>
          <a:solidFill>
            <a:srgbClr val="12233D"/>
          </a:solidFill>
          <a:ln w="9525">
            <a:solidFill>
              <a:srgbClr val="12233D"/>
            </a:solidFill>
            <a:prstDash val="solid"/>
          </a:ln>
        </p:spPr>
      </p:sp>
      <p:sp>
        <p:nvSpPr>
          <p:cNvPr id="18" name="Text 15"/>
          <p:cNvSpPr/>
          <p:nvPr/>
        </p:nvSpPr>
        <p:spPr>
          <a:xfrm>
            <a:off x="749808" y="3867912"/>
            <a:ext cx="5065776" cy="548640"/>
          </a:xfrm>
          <a:prstGeom prst="rect">
            <a:avLst/>
          </a:prstGeom>
          <a:noFill/>
          <a:ln/>
        </p:spPr>
        <p:txBody>
          <a:bodyPr wrap="square" lIns="0" tIns="0" rIns="0" bIns="0" rtlCol="0" anchor="t"/>
          <a:lstStyle/>
          <a:p>
            <a:pPr indent="0" marL="0">
              <a:lnSpc>
                <a:spcPct val="100000"/>
              </a:lnSpc>
              <a:buNone/>
            </a:pPr>
            <a:r>
              <a:rPr lang="en-US" sz="3500" b="1" dirty="0">
                <a:solidFill>
                  <a:srgbClr val="FFFFFF"/>
                </a:solidFill>
                <a:latin typeface="Aptos" pitchFamily="34" charset="0"/>
                <a:ea typeface="Aptos" pitchFamily="34" charset="-122"/>
                <a:cs typeface="Aptos" pitchFamily="34" charset="-120"/>
              </a:rPr>
              <a:t>₦20.5m / year</a:t>
            </a:r>
            <a:endParaRPr lang="en-US" sz="3500" dirty="0"/>
          </a:p>
        </p:txBody>
      </p:sp>
      <p:sp>
        <p:nvSpPr>
          <p:cNvPr id="19" name="Text 16"/>
          <p:cNvSpPr/>
          <p:nvPr/>
        </p:nvSpPr>
        <p:spPr>
          <a:xfrm>
            <a:off x="6108192" y="3977640"/>
            <a:ext cx="5248656" cy="676656"/>
          </a:xfrm>
          <a:prstGeom prst="rect">
            <a:avLst/>
          </a:prstGeom>
          <a:noFill/>
          <a:ln/>
        </p:spPr>
        <p:txBody>
          <a:bodyPr wrap="square" lIns="0" tIns="0" rIns="0" bIns="0" rtlCol="0" anchor="t"/>
          <a:lstStyle/>
          <a:p>
            <a:pPr indent="0" marL="0">
              <a:lnSpc>
                <a:spcPct val="100000"/>
              </a:lnSpc>
              <a:buNone/>
            </a:pPr>
            <a:r>
              <a:rPr lang="en-US" sz="1600" dirty="0">
                <a:solidFill>
                  <a:srgbClr val="FFFFFF"/>
                </a:solidFill>
                <a:latin typeface="Aptos" pitchFamily="34" charset="0"/>
                <a:ea typeface="Aptos" pitchFamily="34" charset="-122"/>
                <a:cs typeface="Aptos" pitchFamily="34" charset="-120"/>
              </a:rPr>
              <a:t>HYPOTHETICAL ANNUAL REVENUE</a:t>
            </a:r>
            <a:endParaRPr lang="en-US" sz="1600" dirty="0"/>
          </a:p>
          <a:p>
            <a:pPr indent="0" marL="0">
              <a:lnSpc>
                <a:spcPct val="100000"/>
              </a:lnSpc>
              <a:buNone/>
            </a:pPr>
            <a:r>
              <a:rPr lang="en-US" sz="1600" dirty="0">
                <a:solidFill>
                  <a:srgbClr val="FFFFFF"/>
                </a:solidFill>
                <a:latin typeface="Aptos" pitchFamily="34" charset="0"/>
                <a:ea typeface="Aptos" pitchFamily="34" charset="-122"/>
                <a:cs typeface="Aptos" pitchFamily="34" charset="-120"/>
              </a:rPr>
              <a:t>Not current revenue or a forecast. Costs excluded.</a:t>
            </a:r>
            <a:endParaRPr lang="en-US" sz="1600" dirty="0"/>
          </a:p>
        </p:txBody>
      </p:sp>
      <p:sp>
        <p:nvSpPr>
          <p:cNvPr id="20" name="Text 17"/>
          <p:cNvSpPr/>
          <p:nvPr/>
        </p:nvSpPr>
        <p:spPr>
          <a:xfrm>
            <a:off x="530352" y="5184648"/>
            <a:ext cx="10972800"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Nigeria-only subscriptions have a finite ceiling. Repeat use and expansion remain unproven.</a:t>
            </a:r>
            <a:endParaRPr lang="en-US" sz="1400" dirty="0"/>
          </a:p>
        </p:txBody>
      </p:sp>
      <p:sp>
        <p:nvSpPr>
          <p:cNvPr id="21" name="Shape 18"/>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22" name="Text 19"/>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23" name="Text 20"/>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Validate qualified firms, budgets, annual supported value and direct costs.</a:t>
            </a:r>
            <a:endParaRPr lang="en-US" sz="1400" dirty="0"/>
          </a:p>
        </p:txBody>
      </p:sp>
      <p:sp>
        <p:nvSpPr>
          <p:cNvPr id="24" name="Text 21"/>
          <p:cNvSpPr/>
          <p:nvPr/>
        </p:nvSpPr>
        <p:spPr>
          <a:xfrm>
            <a:off x="530352" y="6291072"/>
            <a:ext cx="530352" cy="182880"/>
          </a:xfrm>
          <a:prstGeom prst="rect">
            <a:avLst/>
          </a:prstGeom>
          <a:noFill/>
          <a:ln/>
        </p:spPr>
        <p:txBody>
          <a:bodyPr wrap="square" lIns="0" tIns="0" rIns="0" bIns="0" rtlCol="0" anchor="t"/>
          <a:lstStyle/>
          <a:p>
            <a:pPr indent="0" marL="0">
              <a:lnSpc>
                <a:spcPct val="100000"/>
              </a:lnSpc>
              <a:buNone/>
            </a:pPr>
            <a:r>
              <a:rPr lang="en-US" sz="800" dirty="0">
                <a:solidFill>
                  <a:srgbClr val="50637F"/>
                </a:solidFill>
                <a:latin typeface="Aptos" pitchFamily="34" charset="0"/>
                <a:ea typeface="Aptos" pitchFamily="34" charset="-122"/>
                <a:cs typeface="Aptos" pitchFamily="34" charset="-120"/>
              </a:rPr>
              <a:t>Sources</a:t>
            </a:r>
            <a:endParaRPr lang="en-US" sz="800" dirty="0"/>
          </a:p>
        </p:txBody>
      </p:sp>
      <p:sp>
        <p:nvSpPr>
          <p:cNvPr id="25" name="Text 22">
            <a:hlinkClick r:id="rId1" tooltip=""/>
          </p:cNvPr>
          <p:cNvSpPr/>
          <p:nvPr/>
        </p:nvSpPr>
        <p:spPr>
          <a:xfrm>
            <a:off x="1097280"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GO TO MARKET</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Earn one scoped design partner</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Proposed discovery targets; no completed customer pipeline claimed.</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17s  ·  07</a:t>
            </a:r>
            <a:endParaRPr lang="en-US" sz="1000" dirty="0"/>
          </a:p>
        </p:txBody>
      </p:sp>
      <p:sp>
        <p:nvSpPr>
          <p:cNvPr id="8" name="Shape 5"/>
          <p:cNvSpPr/>
          <p:nvPr/>
        </p:nvSpPr>
        <p:spPr>
          <a:xfrm>
            <a:off x="502920" y="2304288"/>
            <a:ext cx="3584448" cy="3017520"/>
          </a:xfrm>
          <a:prstGeom prst="roundRect">
            <a:avLst>
              <a:gd name="adj" fmla="val 3030"/>
            </a:avLst>
          </a:prstGeom>
          <a:solidFill>
            <a:srgbClr val="FFFFFF"/>
          </a:solidFill>
          <a:ln w="9525">
            <a:solidFill>
              <a:srgbClr val="D9E2F0"/>
            </a:solidFill>
            <a:prstDash val="solid"/>
          </a:ln>
        </p:spPr>
      </p:sp>
      <p:sp>
        <p:nvSpPr>
          <p:cNvPr id="9" name="Text 6"/>
          <p:cNvSpPr/>
          <p:nvPr/>
        </p:nvSpPr>
        <p:spPr>
          <a:xfrm>
            <a:off x="704088" y="2514600"/>
            <a:ext cx="3182112" cy="548640"/>
          </a:xfrm>
          <a:prstGeom prst="rect">
            <a:avLst/>
          </a:prstGeom>
          <a:noFill/>
          <a:ln/>
        </p:spPr>
        <p:txBody>
          <a:bodyPr wrap="square" lIns="0" tIns="0" rIns="0" bIns="0" rtlCol="0" anchor="t"/>
          <a:lstStyle/>
          <a:p>
            <a:pPr indent="0" marL="0">
              <a:lnSpc>
                <a:spcPct val="100000"/>
              </a:lnSpc>
              <a:buNone/>
            </a:pPr>
            <a:r>
              <a:rPr lang="en-US" sz="3200" b="1" dirty="0">
                <a:solidFill>
                  <a:srgbClr val="4175FF"/>
                </a:solidFill>
                <a:latin typeface="Aptos" pitchFamily="34" charset="0"/>
                <a:ea typeface="Aptos" pitchFamily="34" charset="-122"/>
                <a:cs typeface="Aptos" pitchFamily="34" charset="-120"/>
              </a:rPr>
              <a:t>5</a:t>
            </a:r>
            <a:endParaRPr lang="en-US" sz="3200" dirty="0"/>
          </a:p>
        </p:txBody>
      </p:sp>
      <p:sp>
        <p:nvSpPr>
          <p:cNvPr id="10" name="Text 7"/>
          <p:cNvSpPr/>
          <p:nvPr/>
        </p:nvSpPr>
        <p:spPr>
          <a:xfrm>
            <a:off x="704088"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Workflow interviews</a:t>
            </a:r>
            <a:endParaRPr lang="en-US" sz="2000" dirty="0"/>
          </a:p>
        </p:txBody>
      </p:sp>
      <p:sp>
        <p:nvSpPr>
          <p:cNvPr id="11" name="Text 8"/>
          <p:cNvSpPr/>
          <p:nvPr/>
        </p:nvSpPr>
        <p:spPr>
          <a:xfrm>
            <a:off x="704088"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Find the costly step and budget owner.</a:t>
            </a:r>
            <a:endParaRPr lang="en-US" sz="1500" dirty="0"/>
          </a:p>
        </p:txBody>
      </p:sp>
      <p:sp>
        <p:nvSpPr>
          <p:cNvPr id="12" name="Shape 9"/>
          <p:cNvSpPr/>
          <p:nvPr/>
        </p:nvSpPr>
        <p:spPr>
          <a:xfrm>
            <a:off x="4288536" y="2304288"/>
            <a:ext cx="3584448" cy="3017520"/>
          </a:xfrm>
          <a:prstGeom prst="roundRect">
            <a:avLst>
              <a:gd name="adj" fmla="val 3030"/>
            </a:avLst>
          </a:prstGeom>
          <a:solidFill>
            <a:srgbClr val="FFFFFF"/>
          </a:solidFill>
          <a:ln w="9525">
            <a:solidFill>
              <a:srgbClr val="D9E2F0"/>
            </a:solidFill>
            <a:prstDash val="solid"/>
          </a:ln>
        </p:spPr>
      </p:sp>
      <p:sp>
        <p:nvSpPr>
          <p:cNvPr id="13" name="Text 10"/>
          <p:cNvSpPr/>
          <p:nvPr/>
        </p:nvSpPr>
        <p:spPr>
          <a:xfrm>
            <a:off x="4489704" y="2514600"/>
            <a:ext cx="3182112" cy="548640"/>
          </a:xfrm>
          <a:prstGeom prst="rect">
            <a:avLst/>
          </a:prstGeom>
          <a:noFill/>
          <a:ln/>
        </p:spPr>
        <p:txBody>
          <a:bodyPr wrap="square" lIns="0" tIns="0" rIns="0" bIns="0" rtlCol="0" anchor="t"/>
          <a:lstStyle/>
          <a:p>
            <a:pPr indent="0" marL="0">
              <a:lnSpc>
                <a:spcPct val="100000"/>
              </a:lnSpc>
              <a:buNone/>
            </a:pPr>
            <a:r>
              <a:rPr lang="en-US" sz="3200" b="1" dirty="0">
                <a:solidFill>
                  <a:srgbClr val="4175FF"/>
                </a:solidFill>
                <a:latin typeface="Aptos" pitchFamily="34" charset="0"/>
                <a:ea typeface="Aptos" pitchFamily="34" charset="-122"/>
                <a:cs typeface="Aptos" pitchFamily="34" charset="-120"/>
              </a:rPr>
              <a:t>2</a:t>
            </a:r>
            <a:endParaRPr lang="en-US" sz="3200" dirty="0"/>
          </a:p>
        </p:txBody>
      </p:sp>
      <p:sp>
        <p:nvSpPr>
          <p:cNvPr id="14" name="Text 11"/>
          <p:cNvSpPr/>
          <p:nvPr/>
        </p:nvSpPr>
        <p:spPr>
          <a:xfrm>
            <a:off x="4489704"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Process walkthroughs</a:t>
            </a:r>
            <a:endParaRPr lang="en-US" sz="2000" dirty="0"/>
          </a:p>
        </p:txBody>
      </p:sp>
      <p:sp>
        <p:nvSpPr>
          <p:cNvPr id="15" name="Text 12"/>
          <p:cNvSpPr/>
          <p:nvPr/>
        </p:nvSpPr>
        <p:spPr>
          <a:xfrm>
            <a:off x="4489704"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Compare records, timing and bank APIs.</a:t>
            </a:r>
            <a:endParaRPr lang="en-US" sz="1500" dirty="0"/>
          </a:p>
        </p:txBody>
      </p:sp>
      <p:sp>
        <p:nvSpPr>
          <p:cNvPr id="16" name="Shape 13"/>
          <p:cNvSpPr/>
          <p:nvPr/>
        </p:nvSpPr>
        <p:spPr>
          <a:xfrm>
            <a:off x="8074152" y="2304288"/>
            <a:ext cx="3584448" cy="3017520"/>
          </a:xfrm>
          <a:prstGeom prst="roundRect">
            <a:avLst>
              <a:gd name="adj" fmla="val 3030"/>
            </a:avLst>
          </a:prstGeom>
          <a:solidFill>
            <a:srgbClr val="FFFFFF"/>
          </a:solidFill>
          <a:ln w="9525">
            <a:solidFill>
              <a:srgbClr val="D9E2F0"/>
            </a:solidFill>
            <a:prstDash val="solid"/>
          </a:ln>
        </p:spPr>
      </p:sp>
      <p:sp>
        <p:nvSpPr>
          <p:cNvPr id="17" name="Text 14"/>
          <p:cNvSpPr/>
          <p:nvPr/>
        </p:nvSpPr>
        <p:spPr>
          <a:xfrm>
            <a:off x="8275320" y="2514600"/>
            <a:ext cx="3182112" cy="548640"/>
          </a:xfrm>
          <a:prstGeom prst="rect">
            <a:avLst/>
          </a:prstGeom>
          <a:noFill/>
          <a:ln/>
        </p:spPr>
        <p:txBody>
          <a:bodyPr wrap="square" lIns="0" tIns="0" rIns="0" bIns="0" rtlCol="0" anchor="t"/>
          <a:lstStyle/>
          <a:p>
            <a:pPr indent="0" marL="0">
              <a:lnSpc>
                <a:spcPct val="100000"/>
              </a:lnSpc>
              <a:buNone/>
            </a:pPr>
            <a:r>
              <a:rPr lang="en-US" sz="3200" b="1" dirty="0">
                <a:solidFill>
                  <a:srgbClr val="4175FF"/>
                </a:solidFill>
                <a:latin typeface="Aptos" pitchFamily="34" charset="0"/>
                <a:ea typeface="Aptos" pitchFamily="34" charset="-122"/>
                <a:cs typeface="Aptos" pitchFamily="34" charset="-120"/>
              </a:rPr>
              <a:t>1</a:t>
            </a:r>
            <a:endParaRPr lang="en-US" sz="3200" dirty="0"/>
          </a:p>
        </p:txBody>
      </p:sp>
      <p:sp>
        <p:nvSpPr>
          <p:cNvPr id="18" name="Text 15"/>
          <p:cNvSpPr/>
          <p:nvPr/>
        </p:nvSpPr>
        <p:spPr>
          <a:xfrm>
            <a:off x="8275320"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Scoped partner proposal</a:t>
            </a:r>
            <a:endParaRPr lang="en-US" sz="2000" dirty="0"/>
          </a:p>
        </p:txBody>
      </p:sp>
      <p:sp>
        <p:nvSpPr>
          <p:cNvPr id="19" name="Text 16"/>
          <p:cNvSpPr/>
          <p:nvPr/>
        </p:nvSpPr>
        <p:spPr>
          <a:xfrm>
            <a:off x="8275320"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Agree instrument, responsibilities and price test.</a:t>
            </a:r>
            <a:endParaRPr lang="en-US" sz="1500" dirty="0"/>
          </a:p>
        </p:txBody>
      </p:sp>
      <p:sp>
        <p:nvSpPr>
          <p:cNvPr id="20" name="Shape 17"/>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21" name="Text 18"/>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22" name="Text 19"/>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Identify who can introduce the team and what a buyer must commit to.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FOUNDER AND MARKET FIT</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Connect experience to the next milestone</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Founder-reported experience; names and specific contributions still needed.</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15s  ·  08</a:t>
            </a:r>
            <a:endParaRPr lang="en-US" sz="1000" dirty="0"/>
          </a:p>
        </p:txBody>
      </p:sp>
      <p:sp>
        <p:nvSpPr>
          <p:cNvPr id="8" name="Shape 5"/>
          <p:cNvSpPr/>
          <p:nvPr/>
        </p:nvSpPr>
        <p:spPr>
          <a:xfrm>
            <a:off x="502920" y="2304288"/>
            <a:ext cx="3584448" cy="3017520"/>
          </a:xfrm>
          <a:prstGeom prst="roundRect">
            <a:avLst>
              <a:gd name="adj" fmla="val 3030"/>
            </a:avLst>
          </a:prstGeom>
          <a:solidFill>
            <a:srgbClr val="FFFFFF"/>
          </a:solidFill>
          <a:ln w="9525">
            <a:solidFill>
              <a:srgbClr val="D9E2F0"/>
            </a:solidFill>
            <a:prstDash val="solid"/>
          </a:ln>
        </p:spPr>
      </p:sp>
      <p:sp>
        <p:nvSpPr>
          <p:cNvPr id="9" name="Text 6"/>
          <p:cNvSpPr/>
          <p:nvPr/>
        </p:nvSpPr>
        <p:spPr>
          <a:xfrm>
            <a:off x="704088"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Technical founder</a:t>
            </a:r>
            <a:endParaRPr lang="en-US" sz="1900" dirty="0"/>
          </a:p>
        </p:txBody>
      </p:sp>
      <p:sp>
        <p:nvSpPr>
          <p:cNvPr id="10" name="Text 7"/>
          <p:cNvSpPr/>
          <p:nvPr/>
        </p:nvSpPr>
        <p:spPr>
          <a:xfrm>
            <a:off x="704088"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BNB Chain internship</a:t>
            </a:r>
            <a:endParaRPr lang="en-US" sz="2000" dirty="0"/>
          </a:p>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Neo Financial junior developer</a:t>
            </a:r>
            <a:endParaRPr lang="en-US" sz="2000" dirty="0"/>
          </a:p>
        </p:txBody>
      </p:sp>
      <p:sp>
        <p:nvSpPr>
          <p:cNvPr id="11" name="Text 8"/>
          <p:cNvSpPr/>
          <p:nvPr/>
        </p:nvSpPr>
        <p:spPr>
          <a:xfrm>
            <a:off x="704088"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Add one relevant task, build contribution and motivation.</a:t>
            </a:r>
            <a:endParaRPr lang="en-US" sz="1500" dirty="0"/>
          </a:p>
        </p:txBody>
      </p:sp>
      <p:sp>
        <p:nvSpPr>
          <p:cNvPr id="12" name="Shape 9"/>
          <p:cNvSpPr/>
          <p:nvPr/>
        </p:nvSpPr>
        <p:spPr>
          <a:xfrm>
            <a:off x="4288536" y="2304288"/>
            <a:ext cx="3584448" cy="3017520"/>
          </a:xfrm>
          <a:prstGeom prst="roundRect">
            <a:avLst>
              <a:gd name="adj" fmla="val 3030"/>
            </a:avLst>
          </a:prstGeom>
          <a:solidFill>
            <a:srgbClr val="FFFFFF"/>
          </a:solidFill>
          <a:ln w="9525">
            <a:solidFill>
              <a:srgbClr val="D9E2F0"/>
            </a:solidFill>
            <a:prstDash val="solid"/>
          </a:ln>
        </p:spPr>
      </p:sp>
      <p:sp>
        <p:nvSpPr>
          <p:cNvPr id="13" name="Text 10"/>
          <p:cNvSpPr/>
          <p:nvPr/>
        </p:nvSpPr>
        <p:spPr>
          <a:xfrm>
            <a:off x="4489704"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Finance teammates</a:t>
            </a:r>
            <a:endParaRPr lang="en-US" sz="1900" dirty="0"/>
          </a:p>
        </p:txBody>
      </p:sp>
      <p:sp>
        <p:nvSpPr>
          <p:cNvPr id="14" name="Text 11"/>
          <p:cNvSpPr/>
          <p:nvPr/>
        </p:nvSpPr>
        <p:spPr>
          <a:xfrm>
            <a:off x="4489704"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Experience in Nigeria’s finance industry</a:t>
            </a:r>
            <a:endParaRPr lang="en-US" sz="2000" dirty="0"/>
          </a:p>
        </p:txBody>
      </p:sp>
      <p:sp>
        <p:nvSpPr>
          <p:cNvPr id="15" name="Text 12"/>
          <p:cNvSpPr/>
          <p:nvPr/>
        </p:nvSpPr>
        <p:spPr>
          <a:xfrm>
            <a:off x="4489704"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Add names, roles, observed workflow and actual customer access.</a:t>
            </a:r>
            <a:endParaRPr lang="en-US" sz="1500" dirty="0"/>
          </a:p>
        </p:txBody>
      </p:sp>
      <p:sp>
        <p:nvSpPr>
          <p:cNvPr id="16" name="Shape 13"/>
          <p:cNvSpPr/>
          <p:nvPr/>
        </p:nvSpPr>
        <p:spPr>
          <a:xfrm>
            <a:off x="8074152" y="2304288"/>
            <a:ext cx="3584448" cy="3017520"/>
          </a:xfrm>
          <a:prstGeom prst="roundRect">
            <a:avLst>
              <a:gd name="adj" fmla="val 3030"/>
            </a:avLst>
          </a:prstGeom>
          <a:solidFill>
            <a:srgbClr val="FFFFFF"/>
          </a:solidFill>
          <a:ln w="9525">
            <a:solidFill>
              <a:srgbClr val="D9E2F0"/>
            </a:solidFill>
            <a:prstDash val="solid"/>
          </a:ln>
        </p:spPr>
      </p:sp>
      <p:sp>
        <p:nvSpPr>
          <p:cNvPr id="17" name="Text 14"/>
          <p:cNvSpPr/>
          <p:nvPr/>
        </p:nvSpPr>
        <p:spPr>
          <a:xfrm>
            <a:off x="8275320"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Team execution</a:t>
            </a:r>
            <a:endParaRPr lang="en-US" sz="1900" dirty="0"/>
          </a:p>
        </p:txBody>
      </p:sp>
      <p:sp>
        <p:nvSpPr>
          <p:cNvPr id="18" name="Text 15"/>
          <p:cNvSpPr/>
          <p:nvPr/>
        </p:nvSpPr>
        <p:spPr>
          <a:xfrm>
            <a:off x="8275320"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September 24–25 development history</a:t>
            </a:r>
            <a:endParaRPr lang="en-US" sz="2000" dirty="0"/>
          </a:p>
        </p:txBody>
      </p:sp>
      <p:sp>
        <p:nvSpPr>
          <p:cNvPr id="19" name="Text 16"/>
          <p:cNvSpPr/>
          <p:nvPr/>
        </p:nvSpPr>
        <p:spPr>
          <a:xfrm>
            <a:off x="8275320"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Issuance, funding UI, listing, purchase and portfolio refresh; verify the demo.</a:t>
            </a:r>
            <a:endParaRPr lang="en-US" sz="1500" dirty="0"/>
          </a:p>
        </p:txBody>
      </p:sp>
      <p:sp>
        <p:nvSpPr>
          <p:cNvPr id="20" name="Shape 17"/>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21" name="Text 18"/>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22" name="Text 19"/>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Explain each person’s role and the work completed during this event.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TRACTION AND VIABILITY</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Demo today. Evidence gates next.</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Current status: no real activity, revenue or commercial traction established.</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16s  ·  09</a:t>
            </a:r>
            <a:endParaRPr lang="en-US" sz="1000" dirty="0"/>
          </a:p>
        </p:txBody>
      </p:sp>
      <p:sp>
        <p:nvSpPr>
          <p:cNvPr id="8" name="Shape 5"/>
          <p:cNvSpPr/>
          <p:nvPr/>
        </p:nvSpPr>
        <p:spPr>
          <a:xfrm>
            <a:off x="502920" y="2304288"/>
            <a:ext cx="3584448" cy="3017520"/>
          </a:xfrm>
          <a:prstGeom prst="roundRect">
            <a:avLst>
              <a:gd name="adj" fmla="val 3030"/>
            </a:avLst>
          </a:prstGeom>
          <a:solidFill>
            <a:srgbClr val="FFFFFF"/>
          </a:solidFill>
          <a:ln w="9525">
            <a:solidFill>
              <a:srgbClr val="D9E2F0"/>
            </a:solidFill>
            <a:prstDash val="solid"/>
          </a:ln>
        </p:spPr>
      </p:sp>
      <p:sp>
        <p:nvSpPr>
          <p:cNvPr id="9" name="Text 6"/>
          <p:cNvSpPr/>
          <p:nvPr/>
        </p:nvSpPr>
        <p:spPr>
          <a:xfrm>
            <a:off x="704088"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Days 1–30</a:t>
            </a:r>
            <a:endParaRPr lang="en-US" sz="1900" dirty="0"/>
          </a:p>
        </p:txBody>
      </p:sp>
      <p:sp>
        <p:nvSpPr>
          <p:cNvPr id="10" name="Text 7"/>
          <p:cNvSpPr/>
          <p:nvPr/>
        </p:nvSpPr>
        <p:spPr>
          <a:xfrm>
            <a:off x="704088"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Buyer + operating model</a:t>
            </a:r>
            <a:endParaRPr lang="en-US" sz="2000" dirty="0"/>
          </a:p>
        </p:txBody>
      </p:sp>
      <p:sp>
        <p:nvSpPr>
          <p:cNvPr id="11" name="Text 8"/>
          <p:cNvSpPr/>
          <p:nvPr/>
        </p:nvSpPr>
        <p:spPr>
          <a:xfrm>
            <a:off x="704088"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Observed pain, defined rights and a workable partner path.</a:t>
            </a:r>
            <a:endParaRPr lang="en-US" sz="1500" dirty="0"/>
          </a:p>
        </p:txBody>
      </p:sp>
      <p:sp>
        <p:nvSpPr>
          <p:cNvPr id="12" name="Shape 9"/>
          <p:cNvSpPr/>
          <p:nvPr/>
        </p:nvSpPr>
        <p:spPr>
          <a:xfrm>
            <a:off x="4288536" y="2304288"/>
            <a:ext cx="3584448" cy="3017520"/>
          </a:xfrm>
          <a:prstGeom prst="roundRect">
            <a:avLst>
              <a:gd name="adj" fmla="val 3030"/>
            </a:avLst>
          </a:prstGeom>
          <a:solidFill>
            <a:srgbClr val="FFFFFF"/>
          </a:solidFill>
          <a:ln w="9525">
            <a:solidFill>
              <a:srgbClr val="D9E2F0"/>
            </a:solidFill>
            <a:prstDash val="solid"/>
          </a:ln>
        </p:spPr>
      </p:sp>
      <p:sp>
        <p:nvSpPr>
          <p:cNvPr id="13" name="Text 10"/>
          <p:cNvSpPr/>
          <p:nvPr/>
        </p:nvSpPr>
        <p:spPr>
          <a:xfrm>
            <a:off x="4489704"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Days 31–60</a:t>
            </a:r>
            <a:endParaRPr lang="en-US" sz="1900" dirty="0"/>
          </a:p>
        </p:txBody>
      </p:sp>
      <p:sp>
        <p:nvSpPr>
          <p:cNvPr id="14" name="Text 11"/>
          <p:cNvSpPr/>
          <p:nvPr/>
        </p:nvSpPr>
        <p:spPr>
          <a:xfrm>
            <a:off x="4489704"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Durable operations</a:t>
            </a:r>
            <a:endParaRPr lang="en-US" sz="2000" dirty="0"/>
          </a:p>
        </p:txBody>
      </p:sp>
      <p:sp>
        <p:nvSpPr>
          <p:cNvPr id="15" name="Text 12"/>
          <p:cNvSpPr/>
          <p:nvPr/>
        </p:nvSpPr>
        <p:spPr>
          <a:xfrm>
            <a:off x="4489704"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Ledger, retries, ambiguous outcome recovery and reconciliation.</a:t>
            </a:r>
            <a:endParaRPr lang="en-US" sz="1500" dirty="0"/>
          </a:p>
        </p:txBody>
      </p:sp>
      <p:sp>
        <p:nvSpPr>
          <p:cNvPr id="16" name="Shape 13"/>
          <p:cNvSpPr/>
          <p:nvPr/>
        </p:nvSpPr>
        <p:spPr>
          <a:xfrm>
            <a:off x="8074152" y="2304288"/>
            <a:ext cx="3584448" cy="3017520"/>
          </a:xfrm>
          <a:prstGeom prst="roundRect">
            <a:avLst>
              <a:gd name="adj" fmla="val 3030"/>
            </a:avLst>
          </a:prstGeom>
          <a:solidFill>
            <a:srgbClr val="FFFFFF"/>
          </a:solidFill>
          <a:ln w="9525">
            <a:solidFill>
              <a:srgbClr val="D9E2F0"/>
            </a:solidFill>
            <a:prstDash val="solid"/>
          </a:ln>
        </p:spPr>
      </p:sp>
      <p:sp>
        <p:nvSpPr>
          <p:cNvPr id="17" name="Text 14"/>
          <p:cNvSpPr/>
          <p:nvPr/>
        </p:nvSpPr>
        <p:spPr>
          <a:xfrm>
            <a:off x="8275320" y="2514600"/>
            <a:ext cx="3182112" cy="548640"/>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Days 61–90</a:t>
            </a:r>
            <a:endParaRPr lang="en-US" sz="1900" dirty="0"/>
          </a:p>
        </p:txBody>
      </p:sp>
      <p:sp>
        <p:nvSpPr>
          <p:cNvPr id="18" name="Text 15"/>
          <p:cNvSpPr/>
          <p:nvPr/>
        </p:nvSpPr>
        <p:spPr>
          <a:xfrm>
            <a:off x="8275320" y="3145536"/>
            <a:ext cx="3182112" cy="1005840"/>
          </a:xfrm>
          <a:prstGeom prst="rect">
            <a:avLst/>
          </a:prstGeom>
          <a:noFill/>
          <a:ln/>
        </p:spPr>
        <p:txBody>
          <a:bodyPr wrap="square" lIns="0" tIns="0" rIns="0" bIns="0" rtlCol="0" anchor="t"/>
          <a:lstStyle/>
          <a:p>
            <a:pPr indent="0" marL="0">
              <a:lnSpc>
                <a:spcPct val="100000"/>
              </a:lnSpc>
              <a:buNone/>
            </a:pPr>
            <a:r>
              <a:rPr lang="en-US" sz="2000" b="1" dirty="0">
                <a:solidFill>
                  <a:srgbClr val="12233D"/>
                </a:solidFill>
                <a:latin typeface="Aptos" pitchFamily="34" charset="0"/>
                <a:ea typeface="Aptos" pitchFamily="34" charset="-122"/>
                <a:cs typeface="Aptos" pitchFamily="34" charset="-120"/>
              </a:rPr>
              <a:t>Scoped commercial test</a:t>
            </a:r>
            <a:endParaRPr lang="en-US" sz="2000" dirty="0"/>
          </a:p>
        </p:txBody>
      </p:sp>
      <p:sp>
        <p:nvSpPr>
          <p:cNvPr id="19" name="Text 16"/>
          <p:cNvSpPr/>
          <p:nvPr/>
        </p:nvSpPr>
        <p:spPr>
          <a:xfrm>
            <a:off x="8275320" y="4206240"/>
            <a:ext cx="3182112" cy="10058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Price discussion, agreed pilot and authorization before live funds.</a:t>
            </a:r>
            <a:endParaRPr lang="en-US" sz="1500" dirty="0"/>
          </a:p>
        </p:txBody>
      </p:sp>
      <p:sp>
        <p:nvSpPr>
          <p:cNvPr id="20" name="Shape 17"/>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21" name="Text 18"/>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22" name="Text 19"/>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Describe what must be proven at each gate before advancing.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NEXT MILESTONE</a:t>
            </a:r>
            <a:endParaRPr lang="en-US" sz="1000" dirty="0"/>
          </a:p>
        </p:txBody>
      </p:sp>
      <p:sp>
        <p:nvSpPr>
          <p:cNvPr id="3" name="Text 1"/>
          <p:cNvSpPr/>
          <p:nvPr/>
        </p:nvSpPr>
        <p:spPr>
          <a:xfrm>
            <a:off x="502920" y="658368"/>
            <a:ext cx="11109960" cy="1005840"/>
          </a:xfrm>
          <a:prstGeom prst="rect">
            <a:avLst/>
          </a:prstGeom>
          <a:noFill/>
          <a:ln/>
        </p:spPr>
        <p:txBody>
          <a:bodyPr wrap="square" lIns="0" tIns="0" rIns="0" bIns="0" rtlCol="0" anchor="t"/>
          <a:lstStyle/>
          <a:p>
            <a:pPr indent="0" marL="0">
              <a:lnSpc>
                <a:spcPct val="100000"/>
              </a:lnSpc>
              <a:buNone/>
            </a:pPr>
            <a:r>
              <a:rPr lang="en-US" sz="3100" b="1" dirty="0">
                <a:solidFill>
                  <a:srgbClr val="12233D"/>
                </a:solidFill>
                <a:latin typeface="Aptos Display" pitchFamily="34" charset="0"/>
                <a:ea typeface="Aptos Display" pitchFamily="34" charset="-122"/>
                <a:cs typeface="Aptos Display" pitchFamily="34" charset="-120"/>
              </a:rPr>
              <a:t>One instrument. One intermediary.</a:t>
            </a:r>
            <a:endParaRPr lang="en-US" sz="3100" dirty="0"/>
          </a:p>
          <a:p>
            <a:pPr indent="0" marL="0">
              <a:lnSpc>
                <a:spcPct val="100000"/>
              </a:lnSpc>
              <a:buNone/>
            </a:pPr>
            <a:r>
              <a:rPr lang="en-US" sz="3100" b="1" dirty="0">
                <a:solidFill>
                  <a:srgbClr val="12233D"/>
                </a:solidFill>
                <a:latin typeface="Aptos Display" pitchFamily="34" charset="0"/>
                <a:ea typeface="Aptos Display" pitchFamily="34" charset="-122"/>
                <a:cs typeface="Aptos Display" pitchFamily="34" charset="-120"/>
              </a:rPr>
              <a:t>One measurable workflow.</a:t>
            </a:r>
            <a:endParaRPr lang="en-US" sz="3100" dirty="0"/>
          </a:p>
        </p:txBody>
      </p:sp>
      <p:sp>
        <p:nvSpPr>
          <p:cNvPr id="4" name="Text 2"/>
          <p:cNvSpPr/>
          <p:nvPr/>
        </p:nvSpPr>
        <p:spPr>
          <a:xfrm>
            <a:off x="502920" y="1773936"/>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The next goal is a scoped design partnership, not an invented traction headline.</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10s  ·  10</a:t>
            </a:r>
            <a:endParaRPr lang="en-US" sz="1000" dirty="0"/>
          </a:p>
        </p:txBody>
      </p:sp>
      <p:sp>
        <p:nvSpPr>
          <p:cNvPr id="8" name="Shape 5"/>
          <p:cNvSpPr/>
          <p:nvPr/>
        </p:nvSpPr>
        <p:spPr>
          <a:xfrm>
            <a:off x="502920" y="2386584"/>
            <a:ext cx="11155680" cy="740664"/>
          </a:xfrm>
          <a:prstGeom prst="roundRect">
            <a:avLst>
              <a:gd name="adj" fmla="val 12346"/>
            </a:avLst>
          </a:prstGeom>
          <a:solidFill>
            <a:srgbClr val="FFFFFF"/>
          </a:solidFill>
          <a:ln w="9525">
            <a:solidFill>
              <a:srgbClr val="D9E2F0"/>
            </a:solidFill>
            <a:prstDash val="solid"/>
          </a:ln>
        </p:spPr>
      </p:sp>
      <p:sp>
        <p:nvSpPr>
          <p:cNvPr id="9" name="Text 6"/>
          <p:cNvSpPr/>
          <p:nvPr/>
        </p:nvSpPr>
        <p:spPr>
          <a:xfrm>
            <a:off x="731520" y="2542032"/>
            <a:ext cx="475488" cy="338328"/>
          </a:xfrm>
          <a:prstGeom prst="rect">
            <a:avLst/>
          </a:prstGeom>
          <a:noFill/>
          <a:ln/>
        </p:spPr>
        <p:txBody>
          <a:bodyPr wrap="square" lIns="0" tIns="0" rIns="0" bIns="0" rtlCol="0" anchor="t"/>
          <a:lstStyle/>
          <a:p>
            <a:pPr indent="0" marL="0">
              <a:lnSpc>
                <a:spcPct val="100000"/>
              </a:lnSpc>
              <a:buNone/>
            </a:pPr>
            <a:r>
              <a:rPr lang="en-US" sz="2300" b="1" dirty="0">
                <a:solidFill>
                  <a:srgbClr val="4175FF"/>
                </a:solidFill>
                <a:latin typeface="Aptos" pitchFamily="34" charset="0"/>
                <a:ea typeface="Aptos" pitchFamily="34" charset="-122"/>
                <a:cs typeface="Aptos" pitchFamily="34" charset="-120"/>
              </a:rPr>
              <a:t>01</a:t>
            </a:r>
            <a:endParaRPr lang="en-US" sz="2300" dirty="0"/>
          </a:p>
        </p:txBody>
      </p:sp>
      <p:sp>
        <p:nvSpPr>
          <p:cNvPr id="10" name="Text 7"/>
          <p:cNvSpPr/>
          <p:nvPr/>
        </p:nvSpPr>
        <p:spPr>
          <a:xfrm>
            <a:off x="1408176" y="2569464"/>
            <a:ext cx="2743200" cy="310896"/>
          </a:xfrm>
          <a:prstGeom prst="rect">
            <a:avLst/>
          </a:prstGeom>
          <a:noFill/>
          <a:ln/>
        </p:spPr>
        <p:txBody>
          <a:bodyPr wrap="square" lIns="0" tIns="0" rIns="0" bIns="0" rtlCol="0" anchor="t"/>
          <a:lstStyle/>
          <a:p>
            <a:pPr indent="0" marL="0">
              <a:lnSpc>
                <a:spcPct val="100000"/>
              </a:lnSpc>
              <a:buNone/>
            </a:pPr>
            <a:r>
              <a:rPr lang="en-US" sz="1900" b="1" dirty="0">
                <a:solidFill>
                  <a:srgbClr val="12233D"/>
                </a:solidFill>
                <a:latin typeface="Aptos" pitchFamily="34" charset="0"/>
                <a:ea typeface="Aptos" pitchFamily="34" charset="-122"/>
                <a:cs typeface="Aptos" pitchFamily="34" charset="-120"/>
              </a:rPr>
              <a:t>Buyer owner</a:t>
            </a:r>
            <a:endParaRPr lang="en-US" sz="1900" dirty="0"/>
          </a:p>
        </p:txBody>
      </p:sp>
      <p:sp>
        <p:nvSpPr>
          <p:cNvPr id="11" name="Text 8"/>
          <p:cNvSpPr/>
          <p:nvPr/>
        </p:nvSpPr>
        <p:spPr>
          <a:xfrm>
            <a:off x="4297680" y="2587752"/>
            <a:ext cx="7040880" cy="347472"/>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A person accountable for the operational problem.</a:t>
            </a:r>
            <a:endParaRPr lang="en-US" sz="1700" dirty="0"/>
          </a:p>
        </p:txBody>
      </p:sp>
      <p:sp>
        <p:nvSpPr>
          <p:cNvPr id="12" name="Shape 9"/>
          <p:cNvSpPr/>
          <p:nvPr/>
        </p:nvSpPr>
        <p:spPr>
          <a:xfrm>
            <a:off x="502920" y="3282696"/>
            <a:ext cx="11155680" cy="740664"/>
          </a:xfrm>
          <a:prstGeom prst="roundRect">
            <a:avLst>
              <a:gd name="adj" fmla="val 12346"/>
            </a:avLst>
          </a:prstGeom>
          <a:solidFill>
            <a:srgbClr val="FFFFFF"/>
          </a:solidFill>
          <a:ln w="9525">
            <a:solidFill>
              <a:srgbClr val="D9E2F0"/>
            </a:solidFill>
            <a:prstDash val="solid"/>
          </a:ln>
        </p:spPr>
      </p:sp>
      <p:sp>
        <p:nvSpPr>
          <p:cNvPr id="13" name="Text 10"/>
          <p:cNvSpPr/>
          <p:nvPr/>
        </p:nvSpPr>
        <p:spPr>
          <a:xfrm>
            <a:off x="731520" y="3438144"/>
            <a:ext cx="475488" cy="338328"/>
          </a:xfrm>
          <a:prstGeom prst="rect">
            <a:avLst/>
          </a:prstGeom>
          <a:noFill/>
          <a:ln/>
        </p:spPr>
        <p:txBody>
          <a:bodyPr wrap="square" lIns="0" tIns="0" rIns="0" bIns="0" rtlCol="0" anchor="t"/>
          <a:lstStyle/>
          <a:p>
            <a:pPr indent="0" marL="0">
              <a:lnSpc>
                <a:spcPct val="100000"/>
              </a:lnSpc>
              <a:buNone/>
            </a:pPr>
            <a:r>
              <a:rPr lang="en-US" sz="2300" b="1" dirty="0">
                <a:solidFill>
                  <a:srgbClr val="4175FF"/>
                </a:solidFill>
                <a:latin typeface="Aptos" pitchFamily="34" charset="0"/>
                <a:ea typeface="Aptos" pitchFamily="34" charset="-122"/>
                <a:cs typeface="Aptos" pitchFamily="34" charset="-120"/>
              </a:rPr>
              <a:t>02</a:t>
            </a:r>
            <a:endParaRPr lang="en-US" sz="2300" dirty="0"/>
          </a:p>
        </p:txBody>
      </p:sp>
      <p:sp>
        <p:nvSpPr>
          <p:cNvPr id="14" name="Text 11"/>
          <p:cNvSpPr/>
          <p:nvPr/>
        </p:nvSpPr>
        <p:spPr>
          <a:xfrm>
            <a:off x="1408176" y="3465576"/>
            <a:ext cx="2743200" cy="310896"/>
          </a:xfrm>
          <a:prstGeom prst="rect">
            <a:avLst/>
          </a:prstGeom>
          <a:noFill/>
          <a:ln/>
        </p:spPr>
        <p:txBody>
          <a:bodyPr wrap="square" lIns="0" tIns="0" rIns="0" bIns="0" rtlCol="0" anchor="t"/>
          <a:lstStyle/>
          <a:p>
            <a:pPr indent="0" marL="0">
              <a:lnSpc>
                <a:spcPct val="100000"/>
              </a:lnSpc>
              <a:buNone/>
            </a:pPr>
            <a:r>
              <a:rPr lang="en-US" sz="1900" b="1" dirty="0">
                <a:solidFill>
                  <a:srgbClr val="12233D"/>
                </a:solidFill>
                <a:latin typeface="Aptos" pitchFamily="34" charset="0"/>
                <a:ea typeface="Aptos" pitchFamily="34" charset="-122"/>
                <a:cs typeface="Aptos" pitchFamily="34" charset="-120"/>
              </a:rPr>
              <a:t>Operating structure</a:t>
            </a:r>
            <a:endParaRPr lang="en-US" sz="1900" dirty="0"/>
          </a:p>
        </p:txBody>
      </p:sp>
      <p:sp>
        <p:nvSpPr>
          <p:cNvPr id="15" name="Text 12"/>
          <p:cNvSpPr/>
          <p:nvPr/>
        </p:nvSpPr>
        <p:spPr>
          <a:xfrm>
            <a:off x="4297680" y="3483864"/>
            <a:ext cx="7040880" cy="347472"/>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Rights, funds, asset control and responsibilities agreed.</a:t>
            </a:r>
            <a:endParaRPr lang="en-US" sz="1700" dirty="0"/>
          </a:p>
        </p:txBody>
      </p:sp>
      <p:sp>
        <p:nvSpPr>
          <p:cNvPr id="16" name="Shape 13"/>
          <p:cNvSpPr/>
          <p:nvPr/>
        </p:nvSpPr>
        <p:spPr>
          <a:xfrm>
            <a:off x="502920" y="4178808"/>
            <a:ext cx="11155680" cy="740664"/>
          </a:xfrm>
          <a:prstGeom prst="roundRect">
            <a:avLst>
              <a:gd name="adj" fmla="val 12346"/>
            </a:avLst>
          </a:prstGeom>
          <a:solidFill>
            <a:srgbClr val="FFFFFF"/>
          </a:solidFill>
          <a:ln w="9525">
            <a:solidFill>
              <a:srgbClr val="D9E2F0"/>
            </a:solidFill>
            <a:prstDash val="solid"/>
          </a:ln>
        </p:spPr>
      </p:sp>
      <p:sp>
        <p:nvSpPr>
          <p:cNvPr id="17" name="Text 14"/>
          <p:cNvSpPr/>
          <p:nvPr/>
        </p:nvSpPr>
        <p:spPr>
          <a:xfrm>
            <a:off x="731520" y="4334256"/>
            <a:ext cx="475488" cy="338328"/>
          </a:xfrm>
          <a:prstGeom prst="rect">
            <a:avLst/>
          </a:prstGeom>
          <a:noFill/>
          <a:ln/>
        </p:spPr>
        <p:txBody>
          <a:bodyPr wrap="square" lIns="0" tIns="0" rIns="0" bIns="0" rtlCol="0" anchor="t"/>
          <a:lstStyle/>
          <a:p>
            <a:pPr indent="0" marL="0">
              <a:lnSpc>
                <a:spcPct val="100000"/>
              </a:lnSpc>
              <a:buNone/>
            </a:pPr>
            <a:r>
              <a:rPr lang="en-US" sz="2300" b="1" dirty="0">
                <a:solidFill>
                  <a:srgbClr val="4175FF"/>
                </a:solidFill>
                <a:latin typeface="Aptos" pitchFamily="34" charset="0"/>
                <a:ea typeface="Aptos" pitchFamily="34" charset="-122"/>
                <a:cs typeface="Aptos" pitchFamily="34" charset="-120"/>
              </a:rPr>
              <a:t>03</a:t>
            </a:r>
            <a:endParaRPr lang="en-US" sz="2300" dirty="0"/>
          </a:p>
        </p:txBody>
      </p:sp>
      <p:sp>
        <p:nvSpPr>
          <p:cNvPr id="18" name="Text 15"/>
          <p:cNvSpPr/>
          <p:nvPr/>
        </p:nvSpPr>
        <p:spPr>
          <a:xfrm>
            <a:off x="1408176" y="4361688"/>
            <a:ext cx="2743200" cy="310896"/>
          </a:xfrm>
          <a:prstGeom prst="rect">
            <a:avLst/>
          </a:prstGeom>
          <a:noFill/>
          <a:ln/>
        </p:spPr>
        <p:txBody>
          <a:bodyPr wrap="square" lIns="0" tIns="0" rIns="0" bIns="0" rtlCol="0" anchor="t"/>
          <a:lstStyle/>
          <a:p>
            <a:pPr indent="0" marL="0">
              <a:lnSpc>
                <a:spcPct val="100000"/>
              </a:lnSpc>
              <a:buNone/>
            </a:pPr>
            <a:r>
              <a:rPr lang="en-US" sz="1900" b="1" dirty="0">
                <a:solidFill>
                  <a:srgbClr val="12233D"/>
                </a:solidFill>
                <a:latin typeface="Aptos" pitchFamily="34" charset="0"/>
                <a:ea typeface="Aptos" pitchFamily="34" charset="-122"/>
                <a:cs typeface="Aptos" pitchFamily="34" charset="-120"/>
              </a:rPr>
              <a:t>Sandbox benchmark</a:t>
            </a:r>
            <a:endParaRPr lang="en-US" sz="1900" dirty="0"/>
          </a:p>
        </p:txBody>
      </p:sp>
      <p:sp>
        <p:nvSpPr>
          <p:cNvPr id="19" name="Text 16"/>
          <p:cNvSpPr/>
          <p:nvPr/>
        </p:nvSpPr>
        <p:spPr>
          <a:xfrm>
            <a:off x="4297680" y="4379976"/>
            <a:ext cx="7040880" cy="347472"/>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Matched cost, timing and reconciliation evidence.</a:t>
            </a:r>
            <a:endParaRPr lang="en-US" sz="1700" dirty="0"/>
          </a:p>
        </p:txBody>
      </p:sp>
      <p:sp>
        <p:nvSpPr>
          <p:cNvPr id="20" name="Shape 17"/>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21" name="Text 18"/>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22" name="Text 19"/>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State the specific help you need and the evidence you will deliver next.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APPENDIX · OPERATING MODEL</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Define what the token represents</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Issuer-native equity, custodied beneficial interest or contractual exposure: unresolved.</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APPENDIX  ·  11</a:t>
            </a:r>
            <a:endParaRPr lang="en-US" sz="1000" dirty="0"/>
          </a:p>
        </p:txBody>
      </p:sp>
      <p:sp>
        <p:nvSpPr>
          <p:cNvPr id="8" name="Shape 5"/>
          <p:cNvSpPr/>
          <p:nvPr/>
        </p:nvSpPr>
        <p:spPr>
          <a:xfrm>
            <a:off x="502920" y="2194560"/>
            <a:ext cx="3017520" cy="393192"/>
          </a:xfrm>
          <a:prstGeom prst="roundRect">
            <a:avLst>
              <a:gd name="adj" fmla="val 23256"/>
            </a:avLst>
          </a:prstGeom>
          <a:solidFill>
            <a:srgbClr val="12233D"/>
          </a:solidFill>
          <a:ln w="9525">
            <a:solidFill>
              <a:srgbClr val="12233D"/>
            </a:solidFill>
            <a:prstDash val="solid"/>
          </a:ln>
        </p:spPr>
      </p:sp>
      <p:sp>
        <p:nvSpPr>
          <p:cNvPr id="9" name="Text 6"/>
          <p:cNvSpPr/>
          <p:nvPr/>
        </p:nvSpPr>
        <p:spPr>
          <a:xfrm>
            <a:off x="621792" y="2276856"/>
            <a:ext cx="277977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Responsibility</a:t>
            </a:r>
            <a:endParaRPr lang="en-US" sz="1100" dirty="0"/>
          </a:p>
        </p:txBody>
      </p:sp>
      <p:sp>
        <p:nvSpPr>
          <p:cNvPr id="10" name="Shape 7"/>
          <p:cNvSpPr/>
          <p:nvPr/>
        </p:nvSpPr>
        <p:spPr>
          <a:xfrm>
            <a:off x="3520440" y="2194560"/>
            <a:ext cx="8138160" cy="393192"/>
          </a:xfrm>
          <a:prstGeom prst="roundRect">
            <a:avLst>
              <a:gd name="adj" fmla="val 23256"/>
            </a:avLst>
          </a:prstGeom>
          <a:solidFill>
            <a:srgbClr val="12233D"/>
          </a:solidFill>
          <a:ln w="9525">
            <a:solidFill>
              <a:srgbClr val="12233D"/>
            </a:solidFill>
            <a:prstDash val="solid"/>
          </a:ln>
        </p:spPr>
      </p:sp>
      <p:sp>
        <p:nvSpPr>
          <p:cNvPr id="11" name="Text 8"/>
          <p:cNvSpPr/>
          <p:nvPr/>
        </p:nvSpPr>
        <p:spPr>
          <a:xfrm>
            <a:off x="3639312" y="2276856"/>
            <a:ext cx="790041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Decision still required</a:t>
            </a:r>
            <a:endParaRPr lang="en-US" sz="1100" dirty="0"/>
          </a:p>
        </p:txBody>
      </p:sp>
      <p:sp>
        <p:nvSpPr>
          <p:cNvPr id="12" name="Shape 9"/>
          <p:cNvSpPr/>
          <p:nvPr/>
        </p:nvSpPr>
        <p:spPr>
          <a:xfrm>
            <a:off x="502920" y="2587752"/>
            <a:ext cx="3017520" cy="585216"/>
          </a:xfrm>
          <a:prstGeom prst="roundRect">
            <a:avLst>
              <a:gd name="adj" fmla="val 15625"/>
            </a:avLst>
          </a:prstGeom>
          <a:solidFill>
            <a:srgbClr val="FFFFFF"/>
          </a:solidFill>
          <a:ln w="9525">
            <a:solidFill>
              <a:srgbClr val="D9E2F0"/>
            </a:solidFill>
            <a:prstDash val="solid"/>
          </a:ln>
        </p:spPr>
      </p:sp>
      <p:sp>
        <p:nvSpPr>
          <p:cNvPr id="13" name="Text 10"/>
          <p:cNvSpPr/>
          <p:nvPr/>
        </p:nvSpPr>
        <p:spPr>
          <a:xfrm>
            <a:off x="621792" y="2706624"/>
            <a:ext cx="2779776" cy="420624"/>
          </a:xfrm>
          <a:prstGeom prst="rect">
            <a:avLst/>
          </a:prstGeom>
          <a:noFill/>
          <a:ln/>
        </p:spPr>
        <p:txBody>
          <a:bodyPr wrap="square" lIns="0" tIns="0" rIns="0" bIns="0" rtlCol="0" anchor="t"/>
          <a:lstStyle/>
          <a:p>
            <a:pPr indent="0" marL="0">
              <a:lnSpc>
                <a:spcPct val="100000"/>
              </a:lnSpc>
              <a:buNone/>
            </a:pPr>
            <a:r>
              <a:rPr lang="en-US" sz="1500" b="1" dirty="0">
                <a:solidFill>
                  <a:srgbClr val="12233D"/>
                </a:solidFill>
                <a:latin typeface="Aptos" pitchFamily="34" charset="0"/>
                <a:ea typeface="Aptos" pitchFamily="34" charset="-122"/>
                <a:cs typeface="Aptos" pitchFamily="34" charset="-120"/>
              </a:rPr>
              <a:t>Instrument + investor rights</a:t>
            </a:r>
            <a:endParaRPr lang="en-US" sz="1500" dirty="0"/>
          </a:p>
        </p:txBody>
      </p:sp>
      <p:sp>
        <p:nvSpPr>
          <p:cNvPr id="14" name="Shape 11"/>
          <p:cNvSpPr/>
          <p:nvPr/>
        </p:nvSpPr>
        <p:spPr>
          <a:xfrm>
            <a:off x="3520440" y="2587752"/>
            <a:ext cx="8138160" cy="585216"/>
          </a:xfrm>
          <a:prstGeom prst="roundRect">
            <a:avLst>
              <a:gd name="adj" fmla="val 15625"/>
            </a:avLst>
          </a:prstGeom>
          <a:solidFill>
            <a:srgbClr val="FFFFFF"/>
          </a:solidFill>
          <a:ln w="9525">
            <a:solidFill>
              <a:srgbClr val="D9E2F0"/>
            </a:solidFill>
            <a:prstDash val="solid"/>
          </a:ln>
        </p:spPr>
      </p:sp>
      <p:sp>
        <p:nvSpPr>
          <p:cNvPr id="15" name="Text 12"/>
          <p:cNvSpPr/>
          <p:nvPr/>
        </p:nvSpPr>
        <p:spPr>
          <a:xfrm>
            <a:off x="3639312" y="2706624"/>
            <a:ext cx="7900416" cy="420624"/>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Issuer, voting/dividends, restrictions, exit and insolvency</a:t>
            </a:r>
            <a:endParaRPr lang="en-US" sz="1500" dirty="0"/>
          </a:p>
        </p:txBody>
      </p:sp>
      <p:sp>
        <p:nvSpPr>
          <p:cNvPr id="16" name="Shape 13"/>
          <p:cNvSpPr/>
          <p:nvPr/>
        </p:nvSpPr>
        <p:spPr>
          <a:xfrm>
            <a:off x="502920" y="3172968"/>
            <a:ext cx="3017520" cy="585216"/>
          </a:xfrm>
          <a:prstGeom prst="roundRect">
            <a:avLst>
              <a:gd name="adj" fmla="val 15625"/>
            </a:avLst>
          </a:prstGeom>
          <a:solidFill>
            <a:srgbClr val="EAF0FF"/>
          </a:solidFill>
          <a:ln w="9525">
            <a:solidFill>
              <a:srgbClr val="D9E2F0"/>
            </a:solidFill>
            <a:prstDash val="solid"/>
          </a:ln>
        </p:spPr>
      </p:sp>
      <p:sp>
        <p:nvSpPr>
          <p:cNvPr id="17" name="Text 14"/>
          <p:cNvSpPr/>
          <p:nvPr/>
        </p:nvSpPr>
        <p:spPr>
          <a:xfrm>
            <a:off x="621792" y="3291840"/>
            <a:ext cx="2779776" cy="420624"/>
          </a:xfrm>
          <a:prstGeom prst="rect">
            <a:avLst/>
          </a:prstGeom>
          <a:noFill/>
          <a:ln/>
        </p:spPr>
        <p:txBody>
          <a:bodyPr wrap="square" lIns="0" tIns="0" rIns="0" bIns="0" rtlCol="0" anchor="t"/>
          <a:lstStyle/>
          <a:p>
            <a:pPr indent="0" marL="0">
              <a:lnSpc>
                <a:spcPct val="100000"/>
              </a:lnSpc>
              <a:buNone/>
            </a:pPr>
            <a:r>
              <a:rPr lang="en-US" sz="1500" b="1" dirty="0">
                <a:solidFill>
                  <a:srgbClr val="12233D"/>
                </a:solidFill>
                <a:latin typeface="Aptos" pitchFamily="34" charset="0"/>
                <a:ea typeface="Aptos" pitchFamily="34" charset="-122"/>
                <a:cs typeface="Aptos" pitchFamily="34" charset="-120"/>
              </a:rPr>
              <a:t>Underlying assets + register</a:t>
            </a:r>
            <a:endParaRPr lang="en-US" sz="1500" dirty="0"/>
          </a:p>
        </p:txBody>
      </p:sp>
      <p:sp>
        <p:nvSpPr>
          <p:cNvPr id="18" name="Shape 15"/>
          <p:cNvSpPr/>
          <p:nvPr/>
        </p:nvSpPr>
        <p:spPr>
          <a:xfrm>
            <a:off x="3520440" y="3172968"/>
            <a:ext cx="8138160" cy="585216"/>
          </a:xfrm>
          <a:prstGeom prst="roundRect">
            <a:avLst>
              <a:gd name="adj" fmla="val 15625"/>
            </a:avLst>
          </a:prstGeom>
          <a:solidFill>
            <a:srgbClr val="EAF0FF"/>
          </a:solidFill>
          <a:ln w="9525">
            <a:solidFill>
              <a:srgbClr val="D9E2F0"/>
            </a:solidFill>
            <a:prstDash val="solid"/>
          </a:ln>
        </p:spPr>
      </p:sp>
      <p:sp>
        <p:nvSpPr>
          <p:cNvPr id="19" name="Text 16"/>
          <p:cNvSpPr/>
          <p:nvPr/>
        </p:nvSpPr>
        <p:spPr>
          <a:xfrm>
            <a:off x="3639312" y="3291840"/>
            <a:ext cx="7900416" cy="420624"/>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Custodian, backing evidence and authoritative ownership record</a:t>
            </a:r>
            <a:endParaRPr lang="en-US" sz="1500" dirty="0"/>
          </a:p>
        </p:txBody>
      </p:sp>
      <p:sp>
        <p:nvSpPr>
          <p:cNvPr id="20" name="Shape 17"/>
          <p:cNvSpPr/>
          <p:nvPr/>
        </p:nvSpPr>
        <p:spPr>
          <a:xfrm>
            <a:off x="502920" y="3758184"/>
            <a:ext cx="3017520" cy="585216"/>
          </a:xfrm>
          <a:prstGeom prst="roundRect">
            <a:avLst>
              <a:gd name="adj" fmla="val 15625"/>
            </a:avLst>
          </a:prstGeom>
          <a:solidFill>
            <a:srgbClr val="FFFFFF"/>
          </a:solidFill>
          <a:ln w="9525">
            <a:solidFill>
              <a:srgbClr val="D9E2F0"/>
            </a:solidFill>
            <a:prstDash val="solid"/>
          </a:ln>
        </p:spPr>
      </p:sp>
      <p:sp>
        <p:nvSpPr>
          <p:cNvPr id="21" name="Text 18"/>
          <p:cNvSpPr/>
          <p:nvPr/>
        </p:nvSpPr>
        <p:spPr>
          <a:xfrm>
            <a:off x="621792" y="3877056"/>
            <a:ext cx="2779776" cy="420624"/>
          </a:xfrm>
          <a:prstGeom prst="rect">
            <a:avLst/>
          </a:prstGeom>
          <a:noFill/>
          <a:ln/>
        </p:spPr>
        <p:txBody>
          <a:bodyPr wrap="square" lIns="0" tIns="0" rIns="0" bIns="0" rtlCol="0" anchor="t"/>
          <a:lstStyle/>
          <a:p>
            <a:pPr indent="0" marL="0">
              <a:lnSpc>
                <a:spcPct val="100000"/>
              </a:lnSpc>
              <a:buNone/>
            </a:pPr>
            <a:r>
              <a:rPr lang="en-US" sz="1500" b="1" dirty="0">
                <a:solidFill>
                  <a:srgbClr val="12233D"/>
                </a:solidFill>
                <a:latin typeface="Aptos" pitchFamily="34" charset="0"/>
                <a:ea typeface="Aptos" pitchFamily="34" charset="-122"/>
                <a:cs typeface="Aptos" pitchFamily="34" charset="-120"/>
              </a:rPr>
              <a:t>Client funds + signatures</a:t>
            </a:r>
            <a:endParaRPr lang="en-US" sz="1500" dirty="0"/>
          </a:p>
        </p:txBody>
      </p:sp>
      <p:sp>
        <p:nvSpPr>
          <p:cNvPr id="22" name="Shape 19"/>
          <p:cNvSpPr/>
          <p:nvPr/>
        </p:nvSpPr>
        <p:spPr>
          <a:xfrm>
            <a:off x="3520440" y="3758184"/>
            <a:ext cx="8138160" cy="585216"/>
          </a:xfrm>
          <a:prstGeom prst="roundRect">
            <a:avLst>
              <a:gd name="adj" fmla="val 15625"/>
            </a:avLst>
          </a:prstGeom>
          <a:solidFill>
            <a:srgbClr val="FFFFFF"/>
          </a:solidFill>
          <a:ln w="9525">
            <a:solidFill>
              <a:srgbClr val="D9E2F0"/>
            </a:solidFill>
            <a:prstDash val="solid"/>
          </a:ln>
        </p:spPr>
      </p:sp>
      <p:sp>
        <p:nvSpPr>
          <p:cNvPr id="23" name="Text 20"/>
          <p:cNvSpPr/>
          <p:nvPr/>
        </p:nvSpPr>
        <p:spPr>
          <a:xfrm>
            <a:off x="3639312" y="3877056"/>
            <a:ext cx="7900416" cy="420624"/>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Wallet control, escrow/allotment, approvals and segregation</a:t>
            </a:r>
            <a:endParaRPr lang="en-US" sz="1500" dirty="0"/>
          </a:p>
        </p:txBody>
      </p:sp>
      <p:sp>
        <p:nvSpPr>
          <p:cNvPr id="24" name="Shape 21"/>
          <p:cNvSpPr/>
          <p:nvPr/>
        </p:nvSpPr>
        <p:spPr>
          <a:xfrm>
            <a:off x="502920" y="4343400"/>
            <a:ext cx="3017520" cy="585216"/>
          </a:xfrm>
          <a:prstGeom prst="roundRect">
            <a:avLst>
              <a:gd name="adj" fmla="val 15625"/>
            </a:avLst>
          </a:prstGeom>
          <a:solidFill>
            <a:srgbClr val="EAF0FF"/>
          </a:solidFill>
          <a:ln w="9525">
            <a:solidFill>
              <a:srgbClr val="D9E2F0"/>
            </a:solidFill>
            <a:prstDash val="solid"/>
          </a:ln>
        </p:spPr>
      </p:sp>
      <p:sp>
        <p:nvSpPr>
          <p:cNvPr id="25" name="Text 22"/>
          <p:cNvSpPr/>
          <p:nvPr/>
        </p:nvSpPr>
        <p:spPr>
          <a:xfrm>
            <a:off x="621792" y="4462272"/>
            <a:ext cx="2779776" cy="420624"/>
          </a:xfrm>
          <a:prstGeom prst="rect">
            <a:avLst/>
          </a:prstGeom>
          <a:noFill/>
          <a:ln/>
        </p:spPr>
        <p:txBody>
          <a:bodyPr wrap="square" lIns="0" tIns="0" rIns="0" bIns="0" rtlCol="0" anchor="t"/>
          <a:lstStyle/>
          <a:p>
            <a:pPr indent="0" marL="0">
              <a:lnSpc>
                <a:spcPct val="100000"/>
              </a:lnSpc>
              <a:buNone/>
            </a:pPr>
            <a:r>
              <a:rPr lang="en-US" sz="1500" b="1" dirty="0">
                <a:solidFill>
                  <a:srgbClr val="12233D"/>
                </a:solidFill>
                <a:latin typeface="Aptos" pitchFamily="34" charset="0"/>
                <a:ea typeface="Aptos" pitchFamily="34" charset="-122"/>
                <a:cs typeface="Aptos" pitchFamily="34" charset="-120"/>
              </a:rPr>
              <a:t>Operating permissions</a:t>
            </a:r>
            <a:endParaRPr lang="en-US" sz="1500" dirty="0"/>
          </a:p>
        </p:txBody>
      </p:sp>
      <p:sp>
        <p:nvSpPr>
          <p:cNvPr id="26" name="Shape 23"/>
          <p:cNvSpPr/>
          <p:nvPr/>
        </p:nvSpPr>
        <p:spPr>
          <a:xfrm>
            <a:off x="3520440" y="4343400"/>
            <a:ext cx="8138160" cy="585216"/>
          </a:xfrm>
          <a:prstGeom prst="roundRect">
            <a:avLst>
              <a:gd name="adj" fmla="val 15625"/>
            </a:avLst>
          </a:prstGeom>
          <a:solidFill>
            <a:srgbClr val="EAF0FF"/>
          </a:solidFill>
          <a:ln w="9525">
            <a:solidFill>
              <a:srgbClr val="D9E2F0"/>
            </a:solidFill>
            <a:prstDash val="solid"/>
          </a:ln>
        </p:spPr>
      </p:sp>
      <p:sp>
        <p:nvSpPr>
          <p:cNvPr id="27" name="Text 24"/>
          <p:cNvSpPr/>
          <p:nvPr/>
        </p:nvSpPr>
        <p:spPr>
          <a:xfrm>
            <a:off x="3639312" y="4462272"/>
            <a:ext cx="7900416" cy="420624"/>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Map actual functions with counsel and authorized partners</a:t>
            </a:r>
            <a:endParaRPr lang="en-US" sz="1500" dirty="0"/>
          </a:p>
        </p:txBody>
      </p:sp>
      <p:sp>
        <p:nvSpPr>
          <p:cNvPr id="28" name="Shape 25"/>
          <p:cNvSpPr/>
          <p:nvPr/>
        </p:nvSpPr>
        <p:spPr>
          <a:xfrm>
            <a:off x="502920" y="4928616"/>
            <a:ext cx="3017520" cy="585216"/>
          </a:xfrm>
          <a:prstGeom prst="roundRect">
            <a:avLst>
              <a:gd name="adj" fmla="val 15625"/>
            </a:avLst>
          </a:prstGeom>
          <a:solidFill>
            <a:srgbClr val="FFFFFF"/>
          </a:solidFill>
          <a:ln w="9525">
            <a:solidFill>
              <a:srgbClr val="D9E2F0"/>
            </a:solidFill>
            <a:prstDash val="solid"/>
          </a:ln>
        </p:spPr>
      </p:sp>
      <p:sp>
        <p:nvSpPr>
          <p:cNvPr id="29" name="Text 26"/>
          <p:cNvSpPr/>
          <p:nvPr/>
        </p:nvSpPr>
        <p:spPr>
          <a:xfrm>
            <a:off x="621792" y="5047488"/>
            <a:ext cx="2779776" cy="420624"/>
          </a:xfrm>
          <a:prstGeom prst="rect">
            <a:avLst/>
          </a:prstGeom>
          <a:noFill/>
          <a:ln/>
        </p:spPr>
        <p:txBody>
          <a:bodyPr wrap="square" lIns="0" tIns="0" rIns="0" bIns="0" rtlCol="0" anchor="t"/>
          <a:lstStyle/>
          <a:p>
            <a:pPr indent="0" marL="0">
              <a:lnSpc>
                <a:spcPct val="100000"/>
              </a:lnSpc>
              <a:buNone/>
            </a:pPr>
            <a:r>
              <a:rPr lang="en-US" sz="1500" b="1" dirty="0">
                <a:solidFill>
                  <a:srgbClr val="12233D"/>
                </a:solidFill>
                <a:latin typeface="Aptos" pitchFamily="34" charset="0"/>
                <a:ea typeface="Aptos" pitchFamily="34" charset="-122"/>
                <a:cs typeface="Aptos" pitchFamily="34" charset="-120"/>
              </a:rPr>
              <a:t>cNGN connection</a:t>
            </a:r>
            <a:endParaRPr lang="en-US" sz="1500" dirty="0"/>
          </a:p>
        </p:txBody>
      </p:sp>
      <p:sp>
        <p:nvSpPr>
          <p:cNvPr id="30" name="Shape 27"/>
          <p:cNvSpPr/>
          <p:nvPr/>
        </p:nvSpPr>
        <p:spPr>
          <a:xfrm>
            <a:off x="3520440" y="4928616"/>
            <a:ext cx="8138160" cy="585216"/>
          </a:xfrm>
          <a:prstGeom prst="roundRect">
            <a:avLst>
              <a:gd name="adj" fmla="val 15625"/>
            </a:avLst>
          </a:prstGeom>
          <a:solidFill>
            <a:srgbClr val="FFFFFF"/>
          </a:solidFill>
          <a:ln w="9525">
            <a:solidFill>
              <a:srgbClr val="D9E2F0"/>
            </a:solidFill>
            <a:prstDash val="solid"/>
          </a:ln>
        </p:spPr>
      </p:sp>
      <p:sp>
        <p:nvSpPr>
          <p:cNvPr id="31" name="Text 28"/>
          <p:cNvSpPr/>
          <p:nvPr/>
        </p:nvSpPr>
        <p:spPr>
          <a:xfrm>
            <a:off x="3639312" y="5047488"/>
            <a:ext cx="7900416" cy="420624"/>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Provider eligibility, fees, liquidity and live approval</a:t>
            </a:r>
            <a:endParaRPr lang="en-US" sz="1500" dirty="0"/>
          </a:p>
        </p:txBody>
      </p:sp>
      <p:sp>
        <p:nvSpPr>
          <p:cNvPr id="32" name="Shape 29"/>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33" name="Text 30"/>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34" name="Text 31"/>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Technology-provider positioning does not determine licensing obligations.</a:t>
            </a:r>
            <a:endParaRPr lang="en-US" sz="1400" dirty="0"/>
          </a:p>
        </p:txBody>
      </p:sp>
      <p:sp>
        <p:nvSpPr>
          <p:cNvPr id="35" name="Text 32"/>
          <p:cNvSpPr/>
          <p:nvPr/>
        </p:nvSpPr>
        <p:spPr>
          <a:xfrm>
            <a:off x="530352" y="6291072"/>
            <a:ext cx="530352" cy="182880"/>
          </a:xfrm>
          <a:prstGeom prst="rect">
            <a:avLst/>
          </a:prstGeom>
          <a:noFill/>
          <a:ln/>
        </p:spPr>
        <p:txBody>
          <a:bodyPr wrap="square" lIns="0" tIns="0" rIns="0" bIns="0" rtlCol="0" anchor="t"/>
          <a:lstStyle/>
          <a:p>
            <a:pPr indent="0" marL="0">
              <a:lnSpc>
                <a:spcPct val="100000"/>
              </a:lnSpc>
              <a:buNone/>
            </a:pPr>
            <a:r>
              <a:rPr lang="en-US" sz="800" dirty="0">
                <a:solidFill>
                  <a:srgbClr val="50637F"/>
                </a:solidFill>
                <a:latin typeface="Aptos" pitchFamily="34" charset="0"/>
                <a:ea typeface="Aptos" pitchFamily="34" charset="-122"/>
                <a:cs typeface="Aptos" pitchFamily="34" charset="-120"/>
              </a:rPr>
              <a:t>Sources</a:t>
            </a:r>
            <a:endParaRPr lang="en-US" sz="800" dirty="0"/>
          </a:p>
        </p:txBody>
      </p:sp>
      <p:sp>
        <p:nvSpPr>
          <p:cNvPr id="36" name="Text 33">
            <a:hlinkClick r:id="rId1" tooltip=""/>
          </p:cNvPr>
          <p:cNvSpPr/>
          <p:nvPr/>
        </p:nvSpPr>
        <p:spPr>
          <a:xfrm>
            <a:off x="1097280"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S11</a:t>
            </a:r>
            <a:endParaRPr lang="en-US" sz="800" dirty="0"/>
          </a:p>
        </p:txBody>
      </p:sp>
      <p:sp>
        <p:nvSpPr>
          <p:cNvPr id="37" name="Text 34">
            <a:hlinkClick r:id="rId2" tooltip=""/>
          </p:cNvPr>
          <p:cNvSpPr/>
          <p:nvPr/>
        </p:nvSpPr>
        <p:spPr>
          <a:xfrm>
            <a:off x="1572768"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S14</a:t>
            </a:r>
            <a:endParaRPr lang="en-US" sz="800" dirty="0"/>
          </a:p>
        </p:txBody>
      </p:sp>
      <p:sp>
        <p:nvSpPr>
          <p:cNvPr id="38" name="Text 35">
            <a:hlinkClick r:id="rId3" tooltip=""/>
          </p:cNvPr>
          <p:cNvSpPr/>
          <p:nvPr/>
        </p:nvSpPr>
        <p:spPr>
          <a:xfrm>
            <a:off x="2048256"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S15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APPENDIX · SEPARATE DEMO</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Show proof in 2 minutes 40 seconds</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Verify a real integrated devnet run before recording.</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APPENDIX  ·  12</a:t>
            </a:r>
            <a:endParaRPr lang="en-US" sz="1000" dirty="0"/>
          </a:p>
        </p:txBody>
      </p:sp>
      <p:sp>
        <p:nvSpPr>
          <p:cNvPr id="8" name="Shape 5"/>
          <p:cNvSpPr/>
          <p:nvPr/>
        </p:nvSpPr>
        <p:spPr>
          <a:xfrm>
            <a:off x="502920" y="2240280"/>
            <a:ext cx="2423160" cy="393192"/>
          </a:xfrm>
          <a:prstGeom prst="roundRect">
            <a:avLst>
              <a:gd name="adj" fmla="val 23256"/>
            </a:avLst>
          </a:prstGeom>
          <a:solidFill>
            <a:srgbClr val="12233D"/>
          </a:solidFill>
          <a:ln w="9525">
            <a:solidFill>
              <a:srgbClr val="12233D"/>
            </a:solidFill>
            <a:prstDash val="solid"/>
          </a:ln>
        </p:spPr>
      </p:sp>
      <p:sp>
        <p:nvSpPr>
          <p:cNvPr id="9" name="Text 6"/>
          <p:cNvSpPr/>
          <p:nvPr/>
        </p:nvSpPr>
        <p:spPr>
          <a:xfrm>
            <a:off x="621792" y="2322576"/>
            <a:ext cx="218541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Segment</a:t>
            </a:r>
            <a:endParaRPr lang="en-US" sz="1100" dirty="0"/>
          </a:p>
        </p:txBody>
      </p:sp>
      <p:sp>
        <p:nvSpPr>
          <p:cNvPr id="10" name="Shape 7"/>
          <p:cNvSpPr/>
          <p:nvPr/>
        </p:nvSpPr>
        <p:spPr>
          <a:xfrm>
            <a:off x="2926080" y="2240280"/>
            <a:ext cx="731520" cy="393192"/>
          </a:xfrm>
          <a:prstGeom prst="roundRect">
            <a:avLst>
              <a:gd name="adj" fmla="val 23256"/>
            </a:avLst>
          </a:prstGeom>
          <a:solidFill>
            <a:srgbClr val="12233D"/>
          </a:solidFill>
          <a:ln w="9525">
            <a:solidFill>
              <a:srgbClr val="12233D"/>
            </a:solidFill>
            <a:prstDash val="solid"/>
          </a:ln>
        </p:spPr>
      </p:sp>
      <p:sp>
        <p:nvSpPr>
          <p:cNvPr id="11" name="Text 8"/>
          <p:cNvSpPr/>
          <p:nvPr/>
        </p:nvSpPr>
        <p:spPr>
          <a:xfrm>
            <a:off x="3044952" y="2322576"/>
            <a:ext cx="49377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Time</a:t>
            </a:r>
            <a:endParaRPr lang="en-US" sz="1100" dirty="0"/>
          </a:p>
        </p:txBody>
      </p:sp>
      <p:sp>
        <p:nvSpPr>
          <p:cNvPr id="12" name="Shape 9"/>
          <p:cNvSpPr/>
          <p:nvPr/>
        </p:nvSpPr>
        <p:spPr>
          <a:xfrm>
            <a:off x="3657600" y="2240280"/>
            <a:ext cx="8001000" cy="393192"/>
          </a:xfrm>
          <a:prstGeom prst="roundRect">
            <a:avLst>
              <a:gd name="adj" fmla="val 23256"/>
            </a:avLst>
          </a:prstGeom>
          <a:solidFill>
            <a:srgbClr val="12233D"/>
          </a:solidFill>
          <a:ln w="9525">
            <a:solidFill>
              <a:srgbClr val="12233D"/>
            </a:solidFill>
            <a:prstDash val="solid"/>
          </a:ln>
        </p:spPr>
      </p:sp>
      <p:sp>
        <p:nvSpPr>
          <p:cNvPr id="13" name="Text 10"/>
          <p:cNvSpPr/>
          <p:nvPr/>
        </p:nvSpPr>
        <p:spPr>
          <a:xfrm>
            <a:off x="3776472" y="2322576"/>
            <a:ext cx="776325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On-screen evidence</a:t>
            </a:r>
            <a:endParaRPr lang="en-US" sz="1100" dirty="0"/>
          </a:p>
        </p:txBody>
      </p:sp>
      <p:sp>
        <p:nvSpPr>
          <p:cNvPr id="14" name="Shape 11"/>
          <p:cNvSpPr/>
          <p:nvPr/>
        </p:nvSpPr>
        <p:spPr>
          <a:xfrm>
            <a:off x="502920" y="2633472"/>
            <a:ext cx="2423160" cy="438912"/>
          </a:xfrm>
          <a:prstGeom prst="roundRect">
            <a:avLst>
              <a:gd name="adj" fmla="val 20833"/>
            </a:avLst>
          </a:prstGeom>
          <a:solidFill>
            <a:srgbClr val="FFFFFF"/>
          </a:solidFill>
          <a:ln w="9525">
            <a:solidFill>
              <a:srgbClr val="D9E2F0"/>
            </a:solidFill>
            <a:prstDash val="solid"/>
          </a:ln>
        </p:spPr>
      </p:sp>
      <p:sp>
        <p:nvSpPr>
          <p:cNvPr id="15" name="Text 12"/>
          <p:cNvSpPr/>
          <p:nvPr/>
        </p:nvSpPr>
        <p:spPr>
          <a:xfrm>
            <a:off x="621792" y="2752344"/>
            <a:ext cx="2185416" cy="274320"/>
          </a:xfrm>
          <a:prstGeom prst="rect">
            <a:avLst/>
          </a:prstGeom>
          <a:noFill/>
          <a:ln/>
        </p:spPr>
        <p:txBody>
          <a:bodyPr wrap="square" lIns="0" tIns="0" rIns="0" bIns="0" rtlCol="0" anchor="t"/>
          <a:lstStyle/>
          <a:p>
            <a:pPr indent="0" marL="0">
              <a:lnSpc>
                <a:spcPct val="100000"/>
              </a:lnSpc>
              <a:buNone/>
            </a:pPr>
            <a:r>
              <a:rPr lang="en-US" sz="1400" b="1" dirty="0">
                <a:solidFill>
                  <a:srgbClr val="12233D"/>
                </a:solidFill>
                <a:latin typeface="Aptos" pitchFamily="34" charset="0"/>
                <a:ea typeface="Aptos" pitchFamily="34" charset="-122"/>
                <a:cs typeface="Aptos" pitchFamily="34" charset="-120"/>
              </a:rPr>
              <a:t>Environment + baseline</a:t>
            </a:r>
            <a:endParaRPr lang="en-US" sz="1400" dirty="0"/>
          </a:p>
        </p:txBody>
      </p:sp>
      <p:sp>
        <p:nvSpPr>
          <p:cNvPr id="16" name="Shape 13"/>
          <p:cNvSpPr/>
          <p:nvPr/>
        </p:nvSpPr>
        <p:spPr>
          <a:xfrm>
            <a:off x="2926080" y="2633472"/>
            <a:ext cx="731520" cy="438912"/>
          </a:xfrm>
          <a:prstGeom prst="roundRect">
            <a:avLst>
              <a:gd name="adj" fmla="val 20833"/>
            </a:avLst>
          </a:prstGeom>
          <a:solidFill>
            <a:srgbClr val="FFFFFF"/>
          </a:solidFill>
          <a:ln w="9525">
            <a:solidFill>
              <a:srgbClr val="D9E2F0"/>
            </a:solidFill>
            <a:prstDash val="solid"/>
          </a:ln>
        </p:spPr>
      </p:sp>
      <p:sp>
        <p:nvSpPr>
          <p:cNvPr id="17" name="Text 14"/>
          <p:cNvSpPr/>
          <p:nvPr/>
        </p:nvSpPr>
        <p:spPr>
          <a:xfrm>
            <a:off x="3044952" y="2752344"/>
            <a:ext cx="49377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15s</a:t>
            </a:r>
            <a:endParaRPr lang="en-US" sz="1400" dirty="0"/>
          </a:p>
        </p:txBody>
      </p:sp>
      <p:sp>
        <p:nvSpPr>
          <p:cNvPr id="18" name="Shape 15"/>
          <p:cNvSpPr/>
          <p:nvPr/>
        </p:nvSpPr>
        <p:spPr>
          <a:xfrm>
            <a:off x="3657600" y="2633472"/>
            <a:ext cx="8001000" cy="438912"/>
          </a:xfrm>
          <a:prstGeom prst="roundRect">
            <a:avLst>
              <a:gd name="adj" fmla="val 20833"/>
            </a:avLst>
          </a:prstGeom>
          <a:solidFill>
            <a:srgbClr val="FFFFFF"/>
          </a:solidFill>
          <a:ln w="9525">
            <a:solidFill>
              <a:srgbClr val="D9E2F0"/>
            </a:solidFill>
            <a:prstDash val="solid"/>
          </a:ln>
        </p:spPr>
      </p:sp>
      <p:sp>
        <p:nvSpPr>
          <p:cNvPr id="19" name="Text 16"/>
          <p:cNvSpPr/>
          <p:nvPr/>
        </p:nvSpPr>
        <p:spPr>
          <a:xfrm>
            <a:off x="3776472" y="2752344"/>
            <a:ext cx="776325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Devnet, mocks disabled, starting balances</a:t>
            </a:r>
            <a:endParaRPr lang="en-US" sz="1400" dirty="0"/>
          </a:p>
        </p:txBody>
      </p:sp>
      <p:sp>
        <p:nvSpPr>
          <p:cNvPr id="20" name="Shape 17"/>
          <p:cNvSpPr/>
          <p:nvPr/>
        </p:nvSpPr>
        <p:spPr>
          <a:xfrm>
            <a:off x="502920" y="3072384"/>
            <a:ext cx="2423160" cy="438912"/>
          </a:xfrm>
          <a:prstGeom prst="roundRect">
            <a:avLst>
              <a:gd name="adj" fmla="val 20833"/>
            </a:avLst>
          </a:prstGeom>
          <a:solidFill>
            <a:srgbClr val="EAF0FF"/>
          </a:solidFill>
          <a:ln w="9525">
            <a:solidFill>
              <a:srgbClr val="D9E2F0"/>
            </a:solidFill>
            <a:prstDash val="solid"/>
          </a:ln>
        </p:spPr>
      </p:sp>
      <p:sp>
        <p:nvSpPr>
          <p:cNvPr id="21" name="Text 18"/>
          <p:cNvSpPr/>
          <p:nvPr/>
        </p:nvSpPr>
        <p:spPr>
          <a:xfrm>
            <a:off x="621792" y="3191256"/>
            <a:ext cx="2185416" cy="274320"/>
          </a:xfrm>
          <a:prstGeom prst="rect">
            <a:avLst/>
          </a:prstGeom>
          <a:noFill/>
          <a:ln/>
        </p:spPr>
        <p:txBody>
          <a:bodyPr wrap="square" lIns="0" tIns="0" rIns="0" bIns="0" rtlCol="0" anchor="t"/>
          <a:lstStyle/>
          <a:p>
            <a:pPr indent="0" marL="0">
              <a:lnSpc>
                <a:spcPct val="100000"/>
              </a:lnSpc>
              <a:buNone/>
            </a:pPr>
            <a:r>
              <a:rPr lang="en-US" sz="1400" b="1" dirty="0">
                <a:solidFill>
                  <a:srgbClr val="12233D"/>
                </a:solidFill>
                <a:latin typeface="Aptos" pitchFamily="34" charset="0"/>
                <a:ea typeface="Aptos" pitchFamily="34" charset="-122"/>
                <a:cs typeface="Aptos" pitchFamily="34" charset="-120"/>
              </a:rPr>
              <a:t>Issuer inventory</a:t>
            </a:r>
            <a:endParaRPr lang="en-US" sz="1400" dirty="0"/>
          </a:p>
        </p:txBody>
      </p:sp>
      <p:sp>
        <p:nvSpPr>
          <p:cNvPr id="22" name="Shape 19"/>
          <p:cNvSpPr/>
          <p:nvPr/>
        </p:nvSpPr>
        <p:spPr>
          <a:xfrm>
            <a:off x="2926080" y="3072384"/>
            <a:ext cx="731520" cy="438912"/>
          </a:xfrm>
          <a:prstGeom prst="roundRect">
            <a:avLst>
              <a:gd name="adj" fmla="val 20833"/>
            </a:avLst>
          </a:prstGeom>
          <a:solidFill>
            <a:srgbClr val="EAF0FF"/>
          </a:solidFill>
          <a:ln w="9525">
            <a:solidFill>
              <a:srgbClr val="D9E2F0"/>
            </a:solidFill>
            <a:prstDash val="solid"/>
          </a:ln>
        </p:spPr>
      </p:sp>
      <p:sp>
        <p:nvSpPr>
          <p:cNvPr id="23" name="Text 20"/>
          <p:cNvSpPr/>
          <p:nvPr/>
        </p:nvSpPr>
        <p:spPr>
          <a:xfrm>
            <a:off x="3044952" y="3191256"/>
            <a:ext cx="49377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25s</a:t>
            </a:r>
            <a:endParaRPr lang="en-US" sz="1400" dirty="0"/>
          </a:p>
        </p:txBody>
      </p:sp>
      <p:sp>
        <p:nvSpPr>
          <p:cNvPr id="24" name="Shape 21"/>
          <p:cNvSpPr/>
          <p:nvPr/>
        </p:nvSpPr>
        <p:spPr>
          <a:xfrm>
            <a:off x="3657600" y="3072384"/>
            <a:ext cx="8001000" cy="438912"/>
          </a:xfrm>
          <a:prstGeom prst="roundRect">
            <a:avLst>
              <a:gd name="adj" fmla="val 20833"/>
            </a:avLst>
          </a:prstGeom>
          <a:solidFill>
            <a:srgbClr val="EAF0FF"/>
          </a:solidFill>
          <a:ln w="9525">
            <a:solidFill>
              <a:srgbClr val="D9E2F0"/>
            </a:solidFill>
            <a:prstDash val="solid"/>
          </a:ln>
        </p:spPr>
      </p:sp>
      <p:sp>
        <p:nvSpPr>
          <p:cNvPr id="25" name="Text 22"/>
          <p:cNvSpPr/>
          <p:nvPr/>
        </p:nvSpPr>
        <p:spPr>
          <a:xfrm>
            <a:off x="3776472" y="3191256"/>
            <a:ext cx="776325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Prepared mint, inventory and live listing</a:t>
            </a:r>
            <a:endParaRPr lang="en-US" sz="1400" dirty="0"/>
          </a:p>
        </p:txBody>
      </p:sp>
      <p:sp>
        <p:nvSpPr>
          <p:cNvPr id="26" name="Shape 23"/>
          <p:cNvSpPr/>
          <p:nvPr/>
        </p:nvSpPr>
        <p:spPr>
          <a:xfrm>
            <a:off x="502920" y="3511296"/>
            <a:ext cx="2423160" cy="438912"/>
          </a:xfrm>
          <a:prstGeom prst="roundRect">
            <a:avLst>
              <a:gd name="adj" fmla="val 20833"/>
            </a:avLst>
          </a:prstGeom>
          <a:solidFill>
            <a:srgbClr val="FFFFFF"/>
          </a:solidFill>
          <a:ln w="9525">
            <a:solidFill>
              <a:srgbClr val="D9E2F0"/>
            </a:solidFill>
            <a:prstDash val="solid"/>
          </a:ln>
        </p:spPr>
      </p:sp>
      <p:sp>
        <p:nvSpPr>
          <p:cNvPr id="27" name="Text 24"/>
          <p:cNvSpPr/>
          <p:nvPr/>
        </p:nvSpPr>
        <p:spPr>
          <a:xfrm>
            <a:off x="621792" y="3630168"/>
            <a:ext cx="2185416" cy="274320"/>
          </a:xfrm>
          <a:prstGeom prst="rect">
            <a:avLst/>
          </a:prstGeom>
          <a:noFill/>
          <a:ln/>
        </p:spPr>
        <p:txBody>
          <a:bodyPr wrap="square" lIns="0" tIns="0" rIns="0" bIns="0" rtlCol="0" anchor="t"/>
          <a:lstStyle/>
          <a:p>
            <a:pPr indent="0" marL="0">
              <a:lnSpc>
                <a:spcPct val="100000"/>
              </a:lnSpc>
              <a:buNone/>
            </a:pPr>
            <a:r>
              <a:rPr lang="en-US" sz="1400" b="1" dirty="0">
                <a:solidFill>
                  <a:srgbClr val="12233D"/>
                </a:solidFill>
                <a:latin typeface="Aptos" pitchFamily="34" charset="0"/>
                <a:ea typeface="Aptos" pitchFamily="34" charset="-122"/>
                <a:cs typeface="Aptos" pitchFamily="34" charset="-120"/>
              </a:rPr>
              <a:t>Purchase quote</a:t>
            </a:r>
            <a:endParaRPr lang="en-US" sz="1400" dirty="0"/>
          </a:p>
        </p:txBody>
      </p:sp>
      <p:sp>
        <p:nvSpPr>
          <p:cNvPr id="28" name="Shape 25"/>
          <p:cNvSpPr/>
          <p:nvPr/>
        </p:nvSpPr>
        <p:spPr>
          <a:xfrm>
            <a:off x="2926080" y="3511296"/>
            <a:ext cx="731520" cy="438912"/>
          </a:xfrm>
          <a:prstGeom prst="roundRect">
            <a:avLst>
              <a:gd name="adj" fmla="val 20833"/>
            </a:avLst>
          </a:prstGeom>
          <a:solidFill>
            <a:srgbClr val="FFFFFF"/>
          </a:solidFill>
          <a:ln w="9525">
            <a:solidFill>
              <a:srgbClr val="D9E2F0"/>
            </a:solidFill>
            <a:prstDash val="solid"/>
          </a:ln>
        </p:spPr>
      </p:sp>
      <p:sp>
        <p:nvSpPr>
          <p:cNvPr id="29" name="Text 26"/>
          <p:cNvSpPr/>
          <p:nvPr/>
        </p:nvSpPr>
        <p:spPr>
          <a:xfrm>
            <a:off x="3044952" y="3630168"/>
            <a:ext cx="49377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25s</a:t>
            </a:r>
            <a:endParaRPr lang="en-US" sz="1400" dirty="0"/>
          </a:p>
        </p:txBody>
      </p:sp>
      <p:sp>
        <p:nvSpPr>
          <p:cNvPr id="30" name="Shape 27"/>
          <p:cNvSpPr/>
          <p:nvPr/>
        </p:nvSpPr>
        <p:spPr>
          <a:xfrm>
            <a:off x="3657600" y="3511296"/>
            <a:ext cx="8001000" cy="438912"/>
          </a:xfrm>
          <a:prstGeom prst="roundRect">
            <a:avLst>
              <a:gd name="adj" fmla="val 20833"/>
            </a:avLst>
          </a:prstGeom>
          <a:solidFill>
            <a:srgbClr val="FFFFFF"/>
          </a:solidFill>
          <a:ln w="9525">
            <a:solidFill>
              <a:srgbClr val="D9E2F0"/>
            </a:solidFill>
            <a:prstDash val="solid"/>
          </a:ln>
        </p:spPr>
      </p:sp>
      <p:sp>
        <p:nvSpPr>
          <p:cNvPr id="31" name="Text 28"/>
          <p:cNvSpPr/>
          <p:nvPr/>
        </p:nvSpPr>
        <p:spPr>
          <a:xfrm>
            <a:off x="3776472" y="3630168"/>
            <a:ext cx="776325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Whole units, price, cNGN total and fee roles</a:t>
            </a:r>
            <a:endParaRPr lang="en-US" sz="1400" dirty="0"/>
          </a:p>
        </p:txBody>
      </p:sp>
      <p:sp>
        <p:nvSpPr>
          <p:cNvPr id="32" name="Shape 29"/>
          <p:cNvSpPr/>
          <p:nvPr/>
        </p:nvSpPr>
        <p:spPr>
          <a:xfrm>
            <a:off x="502920" y="3950208"/>
            <a:ext cx="2423160" cy="438912"/>
          </a:xfrm>
          <a:prstGeom prst="roundRect">
            <a:avLst>
              <a:gd name="adj" fmla="val 20833"/>
            </a:avLst>
          </a:prstGeom>
          <a:solidFill>
            <a:srgbClr val="EAF0FF"/>
          </a:solidFill>
          <a:ln w="9525">
            <a:solidFill>
              <a:srgbClr val="D9E2F0"/>
            </a:solidFill>
            <a:prstDash val="solid"/>
          </a:ln>
        </p:spPr>
      </p:sp>
      <p:sp>
        <p:nvSpPr>
          <p:cNvPr id="33" name="Text 30"/>
          <p:cNvSpPr/>
          <p:nvPr/>
        </p:nvSpPr>
        <p:spPr>
          <a:xfrm>
            <a:off x="621792" y="4069080"/>
            <a:ext cx="2185416" cy="274320"/>
          </a:xfrm>
          <a:prstGeom prst="rect">
            <a:avLst/>
          </a:prstGeom>
          <a:noFill/>
          <a:ln/>
        </p:spPr>
        <p:txBody>
          <a:bodyPr wrap="square" lIns="0" tIns="0" rIns="0" bIns="0" rtlCol="0" anchor="t"/>
          <a:lstStyle/>
          <a:p>
            <a:pPr indent="0" marL="0">
              <a:lnSpc>
                <a:spcPct val="100000"/>
              </a:lnSpc>
              <a:buNone/>
            </a:pPr>
            <a:r>
              <a:rPr lang="en-US" sz="1400" b="1" dirty="0">
                <a:solidFill>
                  <a:srgbClr val="12233D"/>
                </a:solidFill>
                <a:latin typeface="Aptos" pitchFamily="34" charset="0"/>
                <a:ea typeface="Aptos" pitchFamily="34" charset="-122"/>
                <a:cs typeface="Aptos" pitchFamily="34" charset="-120"/>
              </a:rPr>
              <a:t>Sign + submit</a:t>
            </a:r>
            <a:endParaRPr lang="en-US" sz="1400" dirty="0"/>
          </a:p>
        </p:txBody>
      </p:sp>
      <p:sp>
        <p:nvSpPr>
          <p:cNvPr id="34" name="Shape 31"/>
          <p:cNvSpPr/>
          <p:nvPr/>
        </p:nvSpPr>
        <p:spPr>
          <a:xfrm>
            <a:off x="2926080" y="3950208"/>
            <a:ext cx="731520" cy="438912"/>
          </a:xfrm>
          <a:prstGeom prst="roundRect">
            <a:avLst>
              <a:gd name="adj" fmla="val 20833"/>
            </a:avLst>
          </a:prstGeom>
          <a:solidFill>
            <a:srgbClr val="EAF0FF"/>
          </a:solidFill>
          <a:ln w="9525">
            <a:solidFill>
              <a:srgbClr val="D9E2F0"/>
            </a:solidFill>
            <a:prstDash val="solid"/>
          </a:ln>
        </p:spPr>
      </p:sp>
      <p:sp>
        <p:nvSpPr>
          <p:cNvPr id="35" name="Text 32"/>
          <p:cNvSpPr/>
          <p:nvPr/>
        </p:nvSpPr>
        <p:spPr>
          <a:xfrm>
            <a:off x="3044952" y="4069080"/>
            <a:ext cx="49377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45s</a:t>
            </a:r>
            <a:endParaRPr lang="en-US" sz="1400" dirty="0"/>
          </a:p>
        </p:txBody>
      </p:sp>
      <p:sp>
        <p:nvSpPr>
          <p:cNvPr id="36" name="Shape 33"/>
          <p:cNvSpPr/>
          <p:nvPr/>
        </p:nvSpPr>
        <p:spPr>
          <a:xfrm>
            <a:off x="3657600" y="3950208"/>
            <a:ext cx="8001000" cy="438912"/>
          </a:xfrm>
          <a:prstGeom prst="roundRect">
            <a:avLst>
              <a:gd name="adj" fmla="val 20833"/>
            </a:avLst>
          </a:prstGeom>
          <a:solidFill>
            <a:srgbClr val="EAF0FF"/>
          </a:solidFill>
          <a:ln w="9525">
            <a:solidFill>
              <a:srgbClr val="D9E2F0"/>
            </a:solidFill>
            <a:prstDash val="solid"/>
          </a:ln>
        </p:spPr>
      </p:sp>
      <p:sp>
        <p:nvSpPr>
          <p:cNvPr id="37" name="Text 34"/>
          <p:cNvSpPr/>
          <p:nvPr/>
        </p:nvSpPr>
        <p:spPr>
          <a:xfrm>
            <a:off x="3776472" y="4069080"/>
            <a:ext cx="776325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Investor signature and explorer transaction</a:t>
            </a:r>
            <a:endParaRPr lang="en-US" sz="1400" dirty="0"/>
          </a:p>
        </p:txBody>
      </p:sp>
      <p:sp>
        <p:nvSpPr>
          <p:cNvPr id="38" name="Shape 35"/>
          <p:cNvSpPr/>
          <p:nvPr/>
        </p:nvSpPr>
        <p:spPr>
          <a:xfrm>
            <a:off x="502920" y="4389120"/>
            <a:ext cx="2423160" cy="438912"/>
          </a:xfrm>
          <a:prstGeom prst="roundRect">
            <a:avLst>
              <a:gd name="adj" fmla="val 20833"/>
            </a:avLst>
          </a:prstGeom>
          <a:solidFill>
            <a:srgbClr val="FFFFFF"/>
          </a:solidFill>
          <a:ln w="9525">
            <a:solidFill>
              <a:srgbClr val="D9E2F0"/>
            </a:solidFill>
            <a:prstDash val="solid"/>
          </a:ln>
        </p:spPr>
      </p:sp>
      <p:sp>
        <p:nvSpPr>
          <p:cNvPr id="39" name="Text 36"/>
          <p:cNvSpPr/>
          <p:nvPr/>
        </p:nvSpPr>
        <p:spPr>
          <a:xfrm>
            <a:off x="621792" y="4507992"/>
            <a:ext cx="2185416" cy="274320"/>
          </a:xfrm>
          <a:prstGeom prst="rect">
            <a:avLst/>
          </a:prstGeom>
          <a:noFill/>
          <a:ln/>
        </p:spPr>
        <p:txBody>
          <a:bodyPr wrap="square" lIns="0" tIns="0" rIns="0" bIns="0" rtlCol="0" anchor="t"/>
          <a:lstStyle/>
          <a:p>
            <a:pPr indent="0" marL="0">
              <a:lnSpc>
                <a:spcPct val="100000"/>
              </a:lnSpc>
              <a:buNone/>
            </a:pPr>
            <a:r>
              <a:rPr lang="en-US" sz="1400" b="1" dirty="0">
                <a:solidFill>
                  <a:srgbClr val="12233D"/>
                </a:solidFill>
                <a:latin typeface="Aptos" pitchFamily="34" charset="0"/>
                <a:ea typeface="Aptos" pitchFamily="34" charset="-122"/>
                <a:cs typeface="Aptos" pitchFamily="34" charset="-120"/>
              </a:rPr>
              <a:t>Result</a:t>
            </a:r>
            <a:endParaRPr lang="en-US" sz="1400" dirty="0"/>
          </a:p>
        </p:txBody>
      </p:sp>
      <p:sp>
        <p:nvSpPr>
          <p:cNvPr id="40" name="Shape 37"/>
          <p:cNvSpPr/>
          <p:nvPr/>
        </p:nvSpPr>
        <p:spPr>
          <a:xfrm>
            <a:off x="2926080" y="4389120"/>
            <a:ext cx="731520" cy="438912"/>
          </a:xfrm>
          <a:prstGeom prst="roundRect">
            <a:avLst>
              <a:gd name="adj" fmla="val 20833"/>
            </a:avLst>
          </a:prstGeom>
          <a:solidFill>
            <a:srgbClr val="FFFFFF"/>
          </a:solidFill>
          <a:ln w="9525">
            <a:solidFill>
              <a:srgbClr val="D9E2F0"/>
            </a:solidFill>
            <a:prstDash val="solid"/>
          </a:ln>
        </p:spPr>
      </p:sp>
      <p:sp>
        <p:nvSpPr>
          <p:cNvPr id="41" name="Text 38"/>
          <p:cNvSpPr/>
          <p:nvPr/>
        </p:nvSpPr>
        <p:spPr>
          <a:xfrm>
            <a:off x="3044952" y="4507992"/>
            <a:ext cx="49377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30s</a:t>
            </a:r>
            <a:endParaRPr lang="en-US" sz="1400" dirty="0"/>
          </a:p>
        </p:txBody>
      </p:sp>
      <p:sp>
        <p:nvSpPr>
          <p:cNvPr id="42" name="Shape 39"/>
          <p:cNvSpPr/>
          <p:nvPr/>
        </p:nvSpPr>
        <p:spPr>
          <a:xfrm>
            <a:off x="3657600" y="4389120"/>
            <a:ext cx="8001000" cy="438912"/>
          </a:xfrm>
          <a:prstGeom prst="roundRect">
            <a:avLst>
              <a:gd name="adj" fmla="val 20833"/>
            </a:avLst>
          </a:prstGeom>
          <a:solidFill>
            <a:srgbClr val="FFFFFF"/>
          </a:solidFill>
          <a:ln w="9525">
            <a:solidFill>
              <a:srgbClr val="D9E2F0"/>
            </a:solidFill>
            <a:prstDash val="solid"/>
          </a:ln>
        </p:spPr>
      </p:sp>
      <p:sp>
        <p:nvSpPr>
          <p:cNvPr id="43" name="Text 40"/>
          <p:cNvSpPr/>
          <p:nvPr/>
        </p:nvSpPr>
        <p:spPr>
          <a:xfrm>
            <a:off x="3776472" y="4507992"/>
            <a:ext cx="776325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Both transfers and corresponding balance changes</a:t>
            </a:r>
            <a:endParaRPr lang="en-US" sz="1400" dirty="0"/>
          </a:p>
        </p:txBody>
      </p:sp>
      <p:sp>
        <p:nvSpPr>
          <p:cNvPr id="44" name="Shape 41"/>
          <p:cNvSpPr/>
          <p:nvPr/>
        </p:nvSpPr>
        <p:spPr>
          <a:xfrm>
            <a:off x="502920" y="4828032"/>
            <a:ext cx="2423160" cy="438912"/>
          </a:xfrm>
          <a:prstGeom prst="roundRect">
            <a:avLst>
              <a:gd name="adj" fmla="val 20833"/>
            </a:avLst>
          </a:prstGeom>
          <a:solidFill>
            <a:srgbClr val="EAF0FF"/>
          </a:solidFill>
          <a:ln w="9525">
            <a:solidFill>
              <a:srgbClr val="D9E2F0"/>
            </a:solidFill>
            <a:prstDash val="solid"/>
          </a:ln>
        </p:spPr>
      </p:sp>
      <p:sp>
        <p:nvSpPr>
          <p:cNvPr id="45" name="Text 42"/>
          <p:cNvSpPr/>
          <p:nvPr/>
        </p:nvSpPr>
        <p:spPr>
          <a:xfrm>
            <a:off x="621792" y="4946904"/>
            <a:ext cx="2185416" cy="274320"/>
          </a:xfrm>
          <a:prstGeom prst="rect">
            <a:avLst/>
          </a:prstGeom>
          <a:noFill/>
          <a:ln/>
        </p:spPr>
        <p:txBody>
          <a:bodyPr wrap="square" lIns="0" tIns="0" rIns="0" bIns="0" rtlCol="0" anchor="t"/>
          <a:lstStyle/>
          <a:p>
            <a:pPr indent="0" marL="0">
              <a:lnSpc>
                <a:spcPct val="100000"/>
              </a:lnSpc>
              <a:buNone/>
            </a:pPr>
            <a:r>
              <a:rPr lang="en-US" sz="1400" b="1" dirty="0">
                <a:solidFill>
                  <a:srgbClr val="12233D"/>
                </a:solidFill>
                <a:latin typeface="Aptos" pitchFamily="34" charset="0"/>
                <a:ea typeface="Aptos" pitchFamily="34" charset="-122"/>
                <a:cs typeface="Aptos" pitchFamily="34" charset="-120"/>
              </a:rPr>
              <a:t>Limits</a:t>
            </a:r>
            <a:endParaRPr lang="en-US" sz="1400" dirty="0"/>
          </a:p>
        </p:txBody>
      </p:sp>
      <p:sp>
        <p:nvSpPr>
          <p:cNvPr id="46" name="Shape 43"/>
          <p:cNvSpPr/>
          <p:nvPr/>
        </p:nvSpPr>
        <p:spPr>
          <a:xfrm>
            <a:off x="2926080" y="4828032"/>
            <a:ext cx="731520" cy="438912"/>
          </a:xfrm>
          <a:prstGeom prst="roundRect">
            <a:avLst>
              <a:gd name="adj" fmla="val 20833"/>
            </a:avLst>
          </a:prstGeom>
          <a:solidFill>
            <a:srgbClr val="EAF0FF"/>
          </a:solidFill>
          <a:ln w="9525">
            <a:solidFill>
              <a:srgbClr val="D9E2F0"/>
            </a:solidFill>
            <a:prstDash val="solid"/>
          </a:ln>
        </p:spPr>
      </p:sp>
      <p:sp>
        <p:nvSpPr>
          <p:cNvPr id="47" name="Text 44"/>
          <p:cNvSpPr/>
          <p:nvPr/>
        </p:nvSpPr>
        <p:spPr>
          <a:xfrm>
            <a:off x="3044952" y="4946904"/>
            <a:ext cx="49377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20s</a:t>
            </a:r>
            <a:endParaRPr lang="en-US" sz="1400" dirty="0"/>
          </a:p>
        </p:txBody>
      </p:sp>
      <p:sp>
        <p:nvSpPr>
          <p:cNvPr id="48" name="Shape 45"/>
          <p:cNvSpPr/>
          <p:nvPr/>
        </p:nvSpPr>
        <p:spPr>
          <a:xfrm>
            <a:off x="3657600" y="4828032"/>
            <a:ext cx="8001000" cy="438912"/>
          </a:xfrm>
          <a:prstGeom prst="roundRect">
            <a:avLst>
              <a:gd name="adj" fmla="val 20833"/>
            </a:avLst>
          </a:prstGeom>
          <a:solidFill>
            <a:srgbClr val="EAF0FF"/>
          </a:solidFill>
          <a:ln w="9525">
            <a:solidFill>
              <a:srgbClr val="D9E2F0"/>
            </a:solidFill>
            <a:prstDash val="solid"/>
          </a:ln>
        </p:spPr>
      </p:sp>
      <p:sp>
        <p:nvSpPr>
          <p:cNvPr id="49" name="Text 46"/>
          <p:cNvSpPr/>
          <p:nvPr/>
        </p:nvSpPr>
        <p:spPr>
          <a:xfrm>
            <a:off x="3776472" y="4946904"/>
            <a:ext cx="7763256" cy="274320"/>
          </a:xfrm>
          <a:prstGeom prst="rect">
            <a:avLst/>
          </a:prstGeom>
          <a:noFill/>
          <a:ln/>
        </p:spPr>
        <p:txBody>
          <a:bodyPr wrap="square" lIns="0" tIns="0" rIns="0" bIns="0" rtlCol="0" anchor="t"/>
          <a:lstStyle/>
          <a:p>
            <a:pPr indent="0" marL="0">
              <a:lnSpc>
                <a:spcPct val="100000"/>
              </a:lnSpc>
              <a:buNone/>
            </a:pPr>
            <a:r>
              <a:rPr lang="en-US" sz="1400" dirty="0">
                <a:solidFill>
                  <a:srgbClr val="50637F"/>
                </a:solidFill>
                <a:latin typeface="Aptos" pitchFamily="34" charset="0"/>
                <a:ea typeface="Aptos" pitchFamily="34" charset="-122"/>
                <a:cs typeface="Aptos" pitchFamily="34" charset="-120"/>
              </a:rPr>
              <a:t>Simulated inputs; legal and recovery boundaries</a:t>
            </a:r>
            <a:endParaRPr lang="en-US" sz="1400" dirty="0"/>
          </a:p>
        </p:txBody>
      </p:sp>
      <p:sp>
        <p:nvSpPr>
          <p:cNvPr id="50" name="Shape 47"/>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51" name="Text 48"/>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52" name="Text 49"/>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A transaction explorer proves onchain effects; it does not prove legal share ownership.</a:t>
            </a:r>
            <a:endParaRPr lang="en-US" sz="1400" dirty="0"/>
          </a:p>
        </p:txBody>
      </p:sp>
      <p:sp>
        <p:nvSpPr>
          <p:cNvPr id="53" name="Text 50"/>
          <p:cNvSpPr/>
          <p:nvPr/>
        </p:nvSpPr>
        <p:spPr>
          <a:xfrm>
            <a:off x="530352" y="6291072"/>
            <a:ext cx="530352" cy="182880"/>
          </a:xfrm>
          <a:prstGeom prst="rect">
            <a:avLst/>
          </a:prstGeom>
          <a:noFill/>
          <a:ln/>
        </p:spPr>
        <p:txBody>
          <a:bodyPr wrap="square" lIns="0" tIns="0" rIns="0" bIns="0" rtlCol="0" anchor="t"/>
          <a:lstStyle/>
          <a:p>
            <a:pPr indent="0" marL="0">
              <a:lnSpc>
                <a:spcPct val="100000"/>
              </a:lnSpc>
              <a:buNone/>
            </a:pPr>
            <a:r>
              <a:rPr lang="en-US" sz="800" dirty="0">
                <a:solidFill>
                  <a:srgbClr val="50637F"/>
                </a:solidFill>
                <a:latin typeface="Aptos" pitchFamily="34" charset="0"/>
                <a:ea typeface="Aptos" pitchFamily="34" charset="-122"/>
                <a:cs typeface="Aptos" pitchFamily="34" charset="-120"/>
              </a:rPr>
              <a:t>Sources</a:t>
            </a:r>
            <a:endParaRPr lang="en-US" sz="800" dirty="0"/>
          </a:p>
        </p:txBody>
      </p:sp>
      <p:sp>
        <p:nvSpPr>
          <p:cNvPr id="54" name="Text 51">
            <a:hlinkClick r:id="rId1" tooltip=""/>
          </p:cNvPr>
          <p:cNvSpPr/>
          <p:nvPr/>
        </p:nvSpPr>
        <p:spPr>
          <a:xfrm>
            <a:off x="1097280"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APPENDIX · ECONOMICS</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Capacity scenarios, not forecasts</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Annual software + settled-value fees. All commercial inputs are assumptions.</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APPENDIX  ·  13</a:t>
            </a:r>
            <a:endParaRPr lang="en-US" sz="1000" dirty="0"/>
          </a:p>
        </p:txBody>
      </p:sp>
      <p:sp>
        <p:nvSpPr>
          <p:cNvPr id="8" name="Shape 5"/>
          <p:cNvSpPr/>
          <p:nvPr/>
        </p:nvSpPr>
        <p:spPr>
          <a:xfrm>
            <a:off x="502920" y="2240280"/>
            <a:ext cx="3017520" cy="393192"/>
          </a:xfrm>
          <a:prstGeom prst="roundRect">
            <a:avLst>
              <a:gd name="adj" fmla="val 23256"/>
            </a:avLst>
          </a:prstGeom>
          <a:solidFill>
            <a:srgbClr val="12233D"/>
          </a:solidFill>
          <a:ln w="9525">
            <a:solidFill>
              <a:srgbClr val="12233D"/>
            </a:solidFill>
            <a:prstDash val="solid"/>
          </a:ln>
        </p:spPr>
      </p:sp>
      <p:sp>
        <p:nvSpPr>
          <p:cNvPr id="9" name="Text 6"/>
          <p:cNvSpPr/>
          <p:nvPr/>
        </p:nvSpPr>
        <p:spPr>
          <a:xfrm>
            <a:off x="621792" y="2322576"/>
            <a:ext cx="277977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Scenario</a:t>
            </a:r>
            <a:endParaRPr lang="en-US" sz="1100" dirty="0"/>
          </a:p>
        </p:txBody>
      </p:sp>
      <p:sp>
        <p:nvSpPr>
          <p:cNvPr id="10" name="Shape 7"/>
          <p:cNvSpPr/>
          <p:nvPr/>
        </p:nvSpPr>
        <p:spPr>
          <a:xfrm>
            <a:off x="3520440" y="2240280"/>
            <a:ext cx="914400" cy="393192"/>
          </a:xfrm>
          <a:prstGeom prst="roundRect">
            <a:avLst>
              <a:gd name="adj" fmla="val 23256"/>
            </a:avLst>
          </a:prstGeom>
          <a:solidFill>
            <a:srgbClr val="12233D"/>
          </a:solidFill>
          <a:ln w="9525">
            <a:solidFill>
              <a:srgbClr val="12233D"/>
            </a:solidFill>
            <a:prstDash val="solid"/>
          </a:ln>
        </p:spPr>
      </p:sp>
      <p:sp>
        <p:nvSpPr>
          <p:cNvPr id="11" name="Text 8"/>
          <p:cNvSpPr/>
          <p:nvPr/>
        </p:nvSpPr>
        <p:spPr>
          <a:xfrm>
            <a:off x="3639312" y="2322576"/>
            <a:ext cx="67665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Firms</a:t>
            </a:r>
            <a:endParaRPr lang="en-US" sz="1100" dirty="0"/>
          </a:p>
        </p:txBody>
      </p:sp>
      <p:sp>
        <p:nvSpPr>
          <p:cNvPr id="12" name="Shape 9"/>
          <p:cNvSpPr/>
          <p:nvPr/>
        </p:nvSpPr>
        <p:spPr>
          <a:xfrm>
            <a:off x="4434840" y="2240280"/>
            <a:ext cx="2103120" cy="393192"/>
          </a:xfrm>
          <a:prstGeom prst="roundRect">
            <a:avLst>
              <a:gd name="adj" fmla="val 23256"/>
            </a:avLst>
          </a:prstGeom>
          <a:solidFill>
            <a:srgbClr val="12233D"/>
          </a:solidFill>
          <a:ln w="9525">
            <a:solidFill>
              <a:srgbClr val="12233D"/>
            </a:solidFill>
            <a:prstDash val="solid"/>
          </a:ln>
        </p:spPr>
      </p:sp>
      <p:sp>
        <p:nvSpPr>
          <p:cNvPr id="13" name="Text 10"/>
          <p:cNvSpPr/>
          <p:nvPr/>
        </p:nvSpPr>
        <p:spPr>
          <a:xfrm>
            <a:off x="4553712" y="2322576"/>
            <a:ext cx="186537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Fee / firm</a:t>
            </a:r>
            <a:endParaRPr lang="en-US" sz="1100" dirty="0"/>
          </a:p>
        </p:txBody>
      </p:sp>
      <p:sp>
        <p:nvSpPr>
          <p:cNvPr id="14" name="Shape 11"/>
          <p:cNvSpPr/>
          <p:nvPr/>
        </p:nvSpPr>
        <p:spPr>
          <a:xfrm>
            <a:off x="6537960" y="2240280"/>
            <a:ext cx="2194560" cy="393192"/>
          </a:xfrm>
          <a:prstGeom prst="roundRect">
            <a:avLst>
              <a:gd name="adj" fmla="val 23256"/>
            </a:avLst>
          </a:prstGeom>
          <a:solidFill>
            <a:srgbClr val="12233D"/>
          </a:solidFill>
          <a:ln w="9525">
            <a:solidFill>
              <a:srgbClr val="12233D"/>
            </a:solidFill>
            <a:prstDash val="solid"/>
          </a:ln>
        </p:spPr>
      </p:sp>
      <p:sp>
        <p:nvSpPr>
          <p:cNvPr id="15" name="Text 12"/>
          <p:cNvSpPr/>
          <p:nvPr/>
        </p:nvSpPr>
        <p:spPr>
          <a:xfrm>
            <a:off x="6656832" y="2322576"/>
            <a:ext cx="195681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Value / year</a:t>
            </a:r>
            <a:endParaRPr lang="en-US" sz="1100" dirty="0"/>
          </a:p>
        </p:txBody>
      </p:sp>
      <p:sp>
        <p:nvSpPr>
          <p:cNvPr id="16" name="Shape 13"/>
          <p:cNvSpPr/>
          <p:nvPr/>
        </p:nvSpPr>
        <p:spPr>
          <a:xfrm>
            <a:off x="8732520" y="2240280"/>
            <a:ext cx="2926080" cy="393192"/>
          </a:xfrm>
          <a:prstGeom prst="roundRect">
            <a:avLst>
              <a:gd name="adj" fmla="val 23256"/>
            </a:avLst>
          </a:prstGeom>
          <a:solidFill>
            <a:srgbClr val="12233D"/>
          </a:solidFill>
          <a:ln w="9525">
            <a:solidFill>
              <a:srgbClr val="12233D"/>
            </a:solidFill>
            <a:prstDash val="solid"/>
          </a:ln>
        </p:spPr>
      </p:sp>
      <p:sp>
        <p:nvSpPr>
          <p:cNvPr id="17" name="Text 14"/>
          <p:cNvSpPr/>
          <p:nvPr/>
        </p:nvSpPr>
        <p:spPr>
          <a:xfrm>
            <a:off x="8851392" y="2322576"/>
            <a:ext cx="2688336"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Revenue / year</a:t>
            </a:r>
            <a:endParaRPr lang="en-US" sz="1100" dirty="0"/>
          </a:p>
        </p:txBody>
      </p:sp>
      <p:sp>
        <p:nvSpPr>
          <p:cNvPr id="18" name="Shape 15"/>
          <p:cNvSpPr/>
          <p:nvPr/>
        </p:nvSpPr>
        <p:spPr>
          <a:xfrm>
            <a:off x="502920" y="2633472"/>
            <a:ext cx="3017520" cy="594360"/>
          </a:xfrm>
          <a:prstGeom prst="roundRect">
            <a:avLst>
              <a:gd name="adj" fmla="val 15385"/>
            </a:avLst>
          </a:prstGeom>
          <a:solidFill>
            <a:srgbClr val="FFFFFF"/>
          </a:solidFill>
          <a:ln w="9525">
            <a:solidFill>
              <a:srgbClr val="D9E2F0"/>
            </a:solidFill>
            <a:prstDash val="solid"/>
          </a:ln>
        </p:spPr>
      </p:sp>
      <p:sp>
        <p:nvSpPr>
          <p:cNvPr id="19" name="Text 16"/>
          <p:cNvSpPr/>
          <p:nvPr/>
        </p:nvSpPr>
        <p:spPr>
          <a:xfrm>
            <a:off x="621792" y="2752344"/>
            <a:ext cx="2779776" cy="429768"/>
          </a:xfrm>
          <a:prstGeom prst="rect">
            <a:avLst/>
          </a:prstGeom>
          <a:noFill/>
          <a:ln/>
        </p:spPr>
        <p:txBody>
          <a:bodyPr wrap="square" lIns="0" tIns="0" rIns="0" bIns="0" rtlCol="0" anchor="t"/>
          <a:lstStyle/>
          <a:p>
            <a:pPr indent="0" marL="0">
              <a:lnSpc>
                <a:spcPct val="100000"/>
              </a:lnSpc>
              <a:buNone/>
            </a:pPr>
            <a:r>
              <a:rPr lang="en-US" sz="1700" b="1" dirty="0">
                <a:solidFill>
                  <a:srgbClr val="12233D"/>
                </a:solidFill>
                <a:latin typeface="Aptos" pitchFamily="34" charset="0"/>
                <a:ea typeface="Aptos" pitchFamily="34" charset="-122"/>
                <a:cs typeface="Aptos" pitchFamily="34" charset="-120"/>
              </a:rPr>
              <a:t>Initial target</a:t>
            </a:r>
            <a:endParaRPr lang="en-US" sz="1700" dirty="0"/>
          </a:p>
        </p:txBody>
      </p:sp>
      <p:sp>
        <p:nvSpPr>
          <p:cNvPr id="20" name="Shape 17"/>
          <p:cNvSpPr/>
          <p:nvPr/>
        </p:nvSpPr>
        <p:spPr>
          <a:xfrm>
            <a:off x="3520440" y="2633472"/>
            <a:ext cx="914400" cy="594360"/>
          </a:xfrm>
          <a:prstGeom prst="roundRect">
            <a:avLst>
              <a:gd name="adj" fmla="val 15385"/>
            </a:avLst>
          </a:prstGeom>
          <a:solidFill>
            <a:srgbClr val="FFFFFF"/>
          </a:solidFill>
          <a:ln w="9525">
            <a:solidFill>
              <a:srgbClr val="D9E2F0"/>
            </a:solidFill>
            <a:prstDash val="solid"/>
          </a:ln>
        </p:spPr>
      </p:sp>
      <p:sp>
        <p:nvSpPr>
          <p:cNvPr id="21" name="Text 18"/>
          <p:cNvSpPr/>
          <p:nvPr/>
        </p:nvSpPr>
        <p:spPr>
          <a:xfrm>
            <a:off x="3639312" y="2752344"/>
            <a:ext cx="67665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3</a:t>
            </a:r>
            <a:endParaRPr lang="en-US" sz="1700" dirty="0"/>
          </a:p>
        </p:txBody>
      </p:sp>
      <p:sp>
        <p:nvSpPr>
          <p:cNvPr id="22" name="Shape 19"/>
          <p:cNvSpPr/>
          <p:nvPr/>
        </p:nvSpPr>
        <p:spPr>
          <a:xfrm>
            <a:off x="4434840" y="2633472"/>
            <a:ext cx="2103120" cy="594360"/>
          </a:xfrm>
          <a:prstGeom prst="roundRect">
            <a:avLst>
              <a:gd name="adj" fmla="val 15385"/>
            </a:avLst>
          </a:prstGeom>
          <a:solidFill>
            <a:srgbClr val="FFFFFF"/>
          </a:solidFill>
          <a:ln w="9525">
            <a:solidFill>
              <a:srgbClr val="D9E2F0"/>
            </a:solidFill>
            <a:prstDash val="solid"/>
          </a:ln>
        </p:spPr>
      </p:sp>
      <p:sp>
        <p:nvSpPr>
          <p:cNvPr id="23" name="Text 20"/>
          <p:cNvSpPr/>
          <p:nvPr/>
        </p:nvSpPr>
        <p:spPr>
          <a:xfrm>
            <a:off x="4553712" y="2752344"/>
            <a:ext cx="186537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₦6m</a:t>
            </a:r>
            <a:endParaRPr lang="en-US" sz="1700" dirty="0"/>
          </a:p>
        </p:txBody>
      </p:sp>
      <p:sp>
        <p:nvSpPr>
          <p:cNvPr id="24" name="Shape 21"/>
          <p:cNvSpPr/>
          <p:nvPr/>
        </p:nvSpPr>
        <p:spPr>
          <a:xfrm>
            <a:off x="6537960" y="2633472"/>
            <a:ext cx="2194560" cy="594360"/>
          </a:xfrm>
          <a:prstGeom prst="roundRect">
            <a:avLst>
              <a:gd name="adj" fmla="val 15385"/>
            </a:avLst>
          </a:prstGeom>
          <a:solidFill>
            <a:srgbClr val="FFFFFF"/>
          </a:solidFill>
          <a:ln w="9525">
            <a:solidFill>
              <a:srgbClr val="D9E2F0"/>
            </a:solidFill>
            <a:prstDash val="solid"/>
          </a:ln>
        </p:spPr>
      </p:sp>
      <p:sp>
        <p:nvSpPr>
          <p:cNvPr id="25" name="Text 22"/>
          <p:cNvSpPr/>
          <p:nvPr/>
        </p:nvSpPr>
        <p:spPr>
          <a:xfrm>
            <a:off x="6656832" y="2752344"/>
            <a:ext cx="195681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₦5bn</a:t>
            </a:r>
            <a:endParaRPr lang="en-US" sz="1700" dirty="0"/>
          </a:p>
        </p:txBody>
      </p:sp>
      <p:sp>
        <p:nvSpPr>
          <p:cNvPr id="26" name="Shape 23"/>
          <p:cNvSpPr/>
          <p:nvPr/>
        </p:nvSpPr>
        <p:spPr>
          <a:xfrm>
            <a:off x="8732520" y="2633472"/>
            <a:ext cx="2926080" cy="594360"/>
          </a:xfrm>
          <a:prstGeom prst="roundRect">
            <a:avLst>
              <a:gd name="adj" fmla="val 15385"/>
            </a:avLst>
          </a:prstGeom>
          <a:solidFill>
            <a:srgbClr val="FFFFFF"/>
          </a:solidFill>
          <a:ln w="9525">
            <a:solidFill>
              <a:srgbClr val="D9E2F0"/>
            </a:solidFill>
            <a:prstDash val="solid"/>
          </a:ln>
        </p:spPr>
      </p:sp>
      <p:sp>
        <p:nvSpPr>
          <p:cNvPr id="27" name="Text 24"/>
          <p:cNvSpPr/>
          <p:nvPr/>
        </p:nvSpPr>
        <p:spPr>
          <a:xfrm>
            <a:off x="8851392" y="2752344"/>
            <a:ext cx="268833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₦20.5m</a:t>
            </a:r>
            <a:endParaRPr lang="en-US" sz="1700" dirty="0"/>
          </a:p>
        </p:txBody>
      </p:sp>
      <p:sp>
        <p:nvSpPr>
          <p:cNvPr id="28" name="Shape 25"/>
          <p:cNvSpPr/>
          <p:nvPr/>
        </p:nvSpPr>
        <p:spPr>
          <a:xfrm>
            <a:off x="502920" y="3227832"/>
            <a:ext cx="3017520" cy="594360"/>
          </a:xfrm>
          <a:prstGeom prst="roundRect">
            <a:avLst>
              <a:gd name="adj" fmla="val 15385"/>
            </a:avLst>
          </a:prstGeom>
          <a:solidFill>
            <a:srgbClr val="EAF0FF"/>
          </a:solidFill>
          <a:ln w="9525">
            <a:solidFill>
              <a:srgbClr val="D9E2F0"/>
            </a:solidFill>
            <a:prstDash val="solid"/>
          </a:ln>
        </p:spPr>
      </p:sp>
      <p:sp>
        <p:nvSpPr>
          <p:cNvPr id="29" name="Text 26"/>
          <p:cNvSpPr/>
          <p:nvPr/>
        </p:nvSpPr>
        <p:spPr>
          <a:xfrm>
            <a:off x="621792" y="3346704"/>
            <a:ext cx="2779776" cy="429768"/>
          </a:xfrm>
          <a:prstGeom prst="rect">
            <a:avLst/>
          </a:prstGeom>
          <a:noFill/>
          <a:ln/>
        </p:spPr>
        <p:txBody>
          <a:bodyPr wrap="square" lIns="0" tIns="0" rIns="0" bIns="0" rtlCol="0" anchor="t"/>
          <a:lstStyle/>
          <a:p>
            <a:pPr indent="0" marL="0">
              <a:lnSpc>
                <a:spcPct val="100000"/>
              </a:lnSpc>
              <a:buNone/>
            </a:pPr>
            <a:r>
              <a:rPr lang="en-US" sz="1700" b="1" dirty="0">
                <a:solidFill>
                  <a:srgbClr val="12233D"/>
                </a:solidFill>
                <a:latin typeface="Aptos" pitchFamily="34" charset="0"/>
                <a:ea typeface="Aptos" pitchFamily="34" charset="-122"/>
                <a:cs typeface="Aptos" pitchFamily="34" charset="-120"/>
              </a:rPr>
              <a:t>Established niche</a:t>
            </a:r>
            <a:endParaRPr lang="en-US" sz="1700" dirty="0"/>
          </a:p>
        </p:txBody>
      </p:sp>
      <p:sp>
        <p:nvSpPr>
          <p:cNvPr id="30" name="Shape 27"/>
          <p:cNvSpPr/>
          <p:nvPr/>
        </p:nvSpPr>
        <p:spPr>
          <a:xfrm>
            <a:off x="3520440" y="3227832"/>
            <a:ext cx="914400" cy="594360"/>
          </a:xfrm>
          <a:prstGeom prst="roundRect">
            <a:avLst>
              <a:gd name="adj" fmla="val 15385"/>
            </a:avLst>
          </a:prstGeom>
          <a:solidFill>
            <a:srgbClr val="EAF0FF"/>
          </a:solidFill>
          <a:ln w="9525">
            <a:solidFill>
              <a:srgbClr val="D9E2F0"/>
            </a:solidFill>
            <a:prstDash val="solid"/>
          </a:ln>
        </p:spPr>
      </p:sp>
      <p:sp>
        <p:nvSpPr>
          <p:cNvPr id="31" name="Text 28"/>
          <p:cNvSpPr/>
          <p:nvPr/>
        </p:nvSpPr>
        <p:spPr>
          <a:xfrm>
            <a:off x="3639312" y="3346704"/>
            <a:ext cx="67665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20</a:t>
            </a:r>
            <a:endParaRPr lang="en-US" sz="1700" dirty="0"/>
          </a:p>
        </p:txBody>
      </p:sp>
      <p:sp>
        <p:nvSpPr>
          <p:cNvPr id="32" name="Shape 29"/>
          <p:cNvSpPr/>
          <p:nvPr/>
        </p:nvSpPr>
        <p:spPr>
          <a:xfrm>
            <a:off x="4434840" y="3227832"/>
            <a:ext cx="2103120" cy="594360"/>
          </a:xfrm>
          <a:prstGeom prst="roundRect">
            <a:avLst>
              <a:gd name="adj" fmla="val 15385"/>
            </a:avLst>
          </a:prstGeom>
          <a:solidFill>
            <a:srgbClr val="EAF0FF"/>
          </a:solidFill>
          <a:ln w="9525">
            <a:solidFill>
              <a:srgbClr val="D9E2F0"/>
            </a:solidFill>
            <a:prstDash val="solid"/>
          </a:ln>
        </p:spPr>
      </p:sp>
      <p:sp>
        <p:nvSpPr>
          <p:cNvPr id="33" name="Text 30"/>
          <p:cNvSpPr/>
          <p:nvPr/>
        </p:nvSpPr>
        <p:spPr>
          <a:xfrm>
            <a:off x="4553712" y="3346704"/>
            <a:ext cx="186537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₦6m</a:t>
            </a:r>
            <a:endParaRPr lang="en-US" sz="1700" dirty="0"/>
          </a:p>
        </p:txBody>
      </p:sp>
      <p:sp>
        <p:nvSpPr>
          <p:cNvPr id="34" name="Shape 31"/>
          <p:cNvSpPr/>
          <p:nvPr/>
        </p:nvSpPr>
        <p:spPr>
          <a:xfrm>
            <a:off x="6537960" y="3227832"/>
            <a:ext cx="2194560" cy="594360"/>
          </a:xfrm>
          <a:prstGeom prst="roundRect">
            <a:avLst>
              <a:gd name="adj" fmla="val 15385"/>
            </a:avLst>
          </a:prstGeom>
          <a:solidFill>
            <a:srgbClr val="EAF0FF"/>
          </a:solidFill>
          <a:ln w="9525">
            <a:solidFill>
              <a:srgbClr val="D9E2F0"/>
            </a:solidFill>
            <a:prstDash val="solid"/>
          </a:ln>
        </p:spPr>
      </p:sp>
      <p:sp>
        <p:nvSpPr>
          <p:cNvPr id="35" name="Text 32"/>
          <p:cNvSpPr/>
          <p:nvPr/>
        </p:nvSpPr>
        <p:spPr>
          <a:xfrm>
            <a:off x="6656832" y="3346704"/>
            <a:ext cx="195681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₦50bn</a:t>
            </a:r>
            <a:endParaRPr lang="en-US" sz="1700" dirty="0"/>
          </a:p>
        </p:txBody>
      </p:sp>
      <p:sp>
        <p:nvSpPr>
          <p:cNvPr id="36" name="Shape 33"/>
          <p:cNvSpPr/>
          <p:nvPr/>
        </p:nvSpPr>
        <p:spPr>
          <a:xfrm>
            <a:off x="8732520" y="3227832"/>
            <a:ext cx="2926080" cy="594360"/>
          </a:xfrm>
          <a:prstGeom prst="roundRect">
            <a:avLst>
              <a:gd name="adj" fmla="val 15385"/>
            </a:avLst>
          </a:prstGeom>
          <a:solidFill>
            <a:srgbClr val="EAF0FF"/>
          </a:solidFill>
          <a:ln w="9525">
            <a:solidFill>
              <a:srgbClr val="D9E2F0"/>
            </a:solidFill>
            <a:prstDash val="solid"/>
          </a:ln>
        </p:spPr>
      </p:sp>
      <p:sp>
        <p:nvSpPr>
          <p:cNvPr id="37" name="Text 34"/>
          <p:cNvSpPr/>
          <p:nvPr/>
        </p:nvSpPr>
        <p:spPr>
          <a:xfrm>
            <a:off x="8851392" y="3346704"/>
            <a:ext cx="268833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₦145m</a:t>
            </a:r>
            <a:endParaRPr lang="en-US" sz="1700" dirty="0"/>
          </a:p>
        </p:txBody>
      </p:sp>
      <p:sp>
        <p:nvSpPr>
          <p:cNvPr id="38" name="Shape 35"/>
          <p:cNvSpPr/>
          <p:nvPr/>
        </p:nvSpPr>
        <p:spPr>
          <a:xfrm>
            <a:off x="502920" y="3822192"/>
            <a:ext cx="3017520" cy="594360"/>
          </a:xfrm>
          <a:prstGeom prst="roundRect">
            <a:avLst>
              <a:gd name="adj" fmla="val 15385"/>
            </a:avLst>
          </a:prstGeom>
          <a:solidFill>
            <a:srgbClr val="FFFFFF"/>
          </a:solidFill>
          <a:ln w="9525">
            <a:solidFill>
              <a:srgbClr val="D9E2F0"/>
            </a:solidFill>
            <a:prstDash val="solid"/>
          </a:ln>
        </p:spPr>
      </p:sp>
      <p:sp>
        <p:nvSpPr>
          <p:cNvPr id="39" name="Text 36"/>
          <p:cNvSpPr/>
          <p:nvPr/>
        </p:nvSpPr>
        <p:spPr>
          <a:xfrm>
            <a:off x="621792" y="3941064"/>
            <a:ext cx="2779776" cy="429768"/>
          </a:xfrm>
          <a:prstGeom prst="rect">
            <a:avLst/>
          </a:prstGeom>
          <a:noFill/>
          <a:ln/>
        </p:spPr>
        <p:txBody>
          <a:bodyPr wrap="square" lIns="0" tIns="0" rIns="0" bIns="0" rtlCol="0" anchor="t"/>
          <a:lstStyle/>
          <a:p>
            <a:pPr indent="0" marL="0">
              <a:lnSpc>
                <a:spcPct val="100000"/>
              </a:lnSpc>
              <a:buNone/>
            </a:pPr>
            <a:r>
              <a:rPr lang="en-US" sz="1700" b="1" dirty="0">
                <a:solidFill>
                  <a:srgbClr val="12233D"/>
                </a:solidFill>
                <a:latin typeface="Aptos" pitchFamily="34" charset="0"/>
                <a:ea typeface="Aptos" pitchFamily="34" charset="-122"/>
                <a:cs typeface="Aptos" pitchFamily="34" charset="-120"/>
              </a:rPr>
              <a:t>Expanded capacity</a:t>
            </a:r>
            <a:endParaRPr lang="en-US" sz="1700" dirty="0"/>
          </a:p>
        </p:txBody>
      </p:sp>
      <p:sp>
        <p:nvSpPr>
          <p:cNvPr id="40" name="Shape 37"/>
          <p:cNvSpPr/>
          <p:nvPr/>
        </p:nvSpPr>
        <p:spPr>
          <a:xfrm>
            <a:off x="3520440" y="3822192"/>
            <a:ext cx="914400" cy="594360"/>
          </a:xfrm>
          <a:prstGeom prst="roundRect">
            <a:avLst>
              <a:gd name="adj" fmla="val 15385"/>
            </a:avLst>
          </a:prstGeom>
          <a:solidFill>
            <a:srgbClr val="FFFFFF"/>
          </a:solidFill>
          <a:ln w="9525">
            <a:solidFill>
              <a:srgbClr val="D9E2F0"/>
            </a:solidFill>
            <a:prstDash val="solid"/>
          </a:ln>
        </p:spPr>
      </p:sp>
      <p:sp>
        <p:nvSpPr>
          <p:cNvPr id="41" name="Text 38"/>
          <p:cNvSpPr/>
          <p:nvPr/>
        </p:nvSpPr>
        <p:spPr>
          <a:xfrm>
            <a:off x="3639312" y="3941064"/>
            <a:ext cx="67665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60</a:t>
            </a:r>
            <a:endParaRPr lang="en-US" sz="1700" dirty="0"/>
          </a:p>
        </p:txBody>
      </p:sp>
      <p:sp>
        <p:nvSpPr>
          <p:cNvPr id="42" name="Shape 39"/>
          <p:cNvSpPr/>
          <p:nvPr/>
        </p:nvSpPr>
        <p:spPr>
          <a:xfrm>
            <a:off x="4434840" y="3822192"/>
            <a:ext cx="2103120" cy="594360"/>
          </a:xfrm>
          <a:prstGeom prst="roundRect">
            <a:avLst>
              <a:gd name="adj" fmla="val 15385"/>
            </a:avLst>
          </a:prstGeom>
          <a:solidFill>
            <a:srgbClr val="FFFFFF"/>
          </a:solidFill>
          <a:ln w="9525">
            <a:solidFill>
              <a:srgbClr val="D9E2F0"/>
            </a:solidFill>
            <a:prstDash val="solid"/>
          </a:ln>
        </p:spPr>
      </p:sp>
      <p:sp>
        <p:nvSpPr>
          <p:cNvPr id="43" name="Text 40"/>
          <p:cNvSpPr/>
          <p:nvPr/>
        </p:nvSpPr>
        <p:spPr>
          <a:xfrm>
            <a:off x="4553712" y="3941064"/>
            <a:ext cx="186537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₦12m</a:t>
            </a:r>
            <a:endParaRPr lang="en-US" sz="1700" dirty="0"/>
          </a:p>
        </p:txBody>
      </p:sp>
      <p:sp>
        <p:nvSpPr>
          <p:cNvPr id="44" name="Shape 41"/>
          <p:cNvSpPr/>
          <p:nvPr/>
        </p:nvSpPr>
        <p:spPr>
          <a:xfrm>
            <a:off x="6537960" y="3822192"/>
            <a:ext cx="2194560" cy="594360"/>
          </a:xfrm>
          <a:prstGeom prst="roundRect">
            <a:avLst>
              <a:gd name="adj" fmla="val 15385"/>
            </a:avLst>
          </a:prstGeom>
          <a:solidFill>
            <a:srgbClr val="FFFFFF"/>
          </a:solidFill>
          <a:ln w="9525">
            <a:solidFill>
              <a:srgbClr val="D9E2F0"/>
            </a:solidFill>
            <a:prstDash val="solid"/>
          </a:ln>
        </p:spPr>
      </p:sp>
      <p:sp>
        <p:nvSpPr>
          <p:cNvPr id="45" name="Text 42"/>
          <p:cNvSpPr/>
          <p:nvPr/>
        </p:nvSpPr>
        <p:spPr>
          <a:xfrm>
            <a:off x="6656832" y="3941064"/>
            <a:ext cx="195681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₦500bn</a:t>
            </a:r>
            <a:endParaRPr lang="en-US" sz="1700" dirty="0"/>
          </a:p>
        </p:txBody>
      </p:sp>
      <p:sp>
        <p:nvSpPr>
          <p:cNvPr id="46" name="Shape 43"/>
          <p:cNvSpPr/>
          <p:nvPr/>
        </p:nvSpPr>
        <p:spPr>
          <a:xfrm>
            <a:off x="8732520" y="3822192"/>
            <a:ext cx="2926080" cy="594360"/>
          </a:xfrm>
          <a:prstGeom prst="roundRect">
            <a:avLst>
              <a:gd name="adj" fmla="val 15385"/>
            </a:avLst>
          </a:prstGeom>
          <a:solidFill>
            <a:srgbClr val="FFFFFF"/>
          </a:solidFill>
          <a:ln w="9525">
            <a:solidFill>
              <a:srgbClr val="D9E2F0"/>
            </a:solidFill>
            <a:prstDash val="solid"/>
          </a:ln>
        </p:spPr>
      </p:sp>
      <p:sp>
        <p:nvSpPr>
          <p:cNvPr id="47" name="Text 44"/>
          <p:cNvSpPr/>
          <p:nvPr/>
        </p:nvSpPr>
        <p:spPr>
          <a:xfrm>
            <a:off x="8851392" y="3941064"/>
            <a:ext cx="2688336" cy="429768"/>
          </a:xfrm>
          <a:prstGeom prst="rect">
            <a:avLst/>
          </a:prstGeom>
          <a:noFill/>
          <a:ln/>
        </p:spPr>
        <p:txBody>
          <a:bodyPr wrap="square" lIns="0" tIns="0" rIns="0" bIns="0" rtlCol="0" anchor="t"/>
          <a:lstStyle/>
          <a:p>
            <a:pPr indent="0" marL="0">
              <a:lnSpc>
                <a:spcPct val="100000"/>
              </a:lnSpc>
              <a:buNone/>
            </a:pPr>
            <a:r>
              <a:rPr lang="en-US" sz="1700" dirty="0">
                <a:solidFill>
                  <a:srgbClr val="50637F"/>
                </a:solidFill>
                <a:latin typeface="Aptos" pitchFamily="34" charset="0"/>
                <a:ea typeface="Aptos" pitchFamily="34" charset="-122"/>
                <a:cs typeface="Aptos" pitchFamily="34" charset="-120"/>
              </a:rPr>
              <a:t>₦970m</a:t>
            </a:r>
            <a:endParaRPr lang="en-US" sz="1700" dirty="0"/>
          </a:p>
        </p:txBody>
      </p:sp>
      <p:sp>
        <p:nvSpPr>
          <p:cNvPr id="48" name="Text 45"/>
          <p:cNvSpPr/>
          <p:nvPr/>
        </p:nvSpPr>
        <p:spPr>
          <a:xfrm>
            <a:off x="566928" y="4590288"/>
            <a:ext cx="10972800" cy="402336"/>
          </a:xfrm>
          <a:prstGeom prst="rect">
            <a:avLst/>
          </a:prstGeom>
          <a:noFill/>
          <a:ln/>
        </p:spPr>
        <p:txBody>
          <a:bodyPr wrap="square" lIns="0" tIns="0" rIns="0" bIns="0" rtlCol="0" anchor="t"/>
          <a:lstStyle/>
          <a:p>
            <a:pPr indent="0" marL="0">
              <a:lnSpc>
                <a:spcPct val="100000"/>
              </a:lnSpc>
              <a:buNone/>
            </a:pPr>
            <a:r>
              <a:rPr lang="en-US" sz="1900" b="1" dirty="0">
                <a:solidFill>
                  <a:srgbClr val="4175FF"/>
                </a:solidFill>
                <a:latin typeface="Aptos" pitchFamily="34" charset="0"/>
                <a:ea typeface="Aptos" pitchFamily="34" charset="-122"/>
                <a:cs typeface="Aptos" pitchFamily="34" charset="-120"/>
              </a:rPr>
              <a:t>Revenue = firms × annual fee + aggregate annual value × 0.0005</a:t>
            </a:r>
            <a:endParaRPr lang="en-US" sz="1900" dirty="0"/>
          </a:p>
        </p:txBody>
      </p:sp>
      <p:sp>
        <p:nvSpPr>
          <p:cNvPr id="49" name="Text 46"/>
          <p:cNvSpPr/>
          <p:nvPr/>
        </p:nvSpPr>
        <p:spPr>
          <a:xfrm>
            <a:off x="566928" y="5138928"/>
            <a:ext cx="10972800" cy="320040"/>
          </a:xfrm>
          <a:prstGeom prst="rect">
            <a:avLst/>
          </a:prstGeom>
          <a:noFill/>
          <a:ln/>
        </p:spPr>
        <p:txBody>
          <a:bodyPr wrap="square" lIns="0" tIns="0" rIns="0" bIns="0" rtlCol="0" anchor="t"/>
          <a:lstStyle/>
          <a:p>
            <a:pPr indent="0" marL="0">
              <a:lnSpc>
                <a:spcPct val="100000"/>
              </a:lnSpc>
              <a:buNone/>
            </a:pPr>
            <a:r>
              <a:rPr lang="en-US" sz="1500" dirty="0">
                <a:solidFill>
                  <a:srgbClr val="50637F"/>
                </a:solidFill>
                <a:latin typeface="Aptos" pitchFamily="34" charset="0"/>
                <a:ea typeface="Aptos" pitchFamily="34" charset="-122"/>
                <a:cs typeface="Aptos" pitchFamily="34" charset="-120"/>
              </a:rPr>
              <a:t>No cost quotes, margin claim, integration revenue or partner payout assumption.</a:t>
            </a:r>
            <a:endParaRPr lang="en-US" sz="1500" dirty="0"/>
          </a:p>
        </p:txBody>
      </p:sp>
      <p:sp>
        <p:nvSpPr>
          <p:cNvPr id="50" name="Shape 47"/>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51" name="Text 48"/>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52" name="Text 49"/>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Direct costs and margins are unknown. Obtain partner quotes before stating profitability.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APPENDIX · JUDGING</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Match each claim to evidence</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No public numerical weights found. Address both FAQ and formal event criteria.</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APPENDIX  ·  14</a:t>
            </a:r>
            <a:endParaRPr lang="en-US" sz="1000" dirty="0"/>
          </a:p>
        </p:txBody>
      </p:sp>
      <p:sp>
        <p:nvSpPr>
          <p:cNvPr id="8" name="Shape 5"/>
          <p:cNvSpPr/>
          <p:nvPr/>
        </p:nvSpPr>
        <p:spPr>
          <a:xfrm>
            <a:off x="502920" y="2240280"/>
            <a:ext cx="2478024" cy="393192"/>
          </a:xfrm>
          <a:prstGeom prst="roundRect">
            <a:avLst>
              <a:gd name="adj" fmla="val 23256"/>
            </a:avLst>
          </a:prstGeom>
          <a:solidFill>
            <a:srgbClr val="12233D"/>
          </a:solidFill>
          <a:ln w="9525">
            <a:solidFill>
              <a:srgbClr val="12233D"/>
            </a:solidFill>
            <a:prstDash val="solid"/>
          </a:ln>
        </p:spPr>
      </p:sp>
      <p:sp>
        <p:nvSpPr>
          <p:cNvPr id="9" name="Text 6"/>
          <p:cNvSpPr/>
          <p:nvPr/>
        </p:nvSpPr>
        <p:spPr>
          <a:xfrm>
            <a:off x="621792" y="2322576"/>
            <a:ext cx="2240280"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FAQ factor</a:t>
            </a:r>
            <a:endParaRPr lang="en-US" sz="1100" dirty="0"/>
          </a:p>
        </p:txBody>
      </p:sp>
      <p:sp>
        <p:nvSpPr>
          <p:cNvPr id="10" name="Shape 7"/>
          <p:cNvSpPr/>
          <p:nvPr/>
        </p:nvSpPr>
        <p:spPr>
          <a:xfrm>
            <a:off x="2980944" y="2240280"/>
            <a:ext cx="4041648" cy="393192"/>
          </a:xfrm>
          <a:prstGeom prst="roundRect">
            <a:avLst>
              <a:gd name="adj" fmla="val 23256"/>
            </a:avLst>
          </a:prstGeom>
          <a:solidFill>
            <a:srgbClr val="12233D"/>
          </a:solidFill>
          <a:ln w="9525">
            <a:solidFill>
              <a:srgbClr val="12233D"/>
            </a:solidFill>
            <a:prstDash val="solid"/>
          </a:ln>
        </p:spPr>
      </p:sp>
      <p:sp>
        <p:nvSpPr>
          <p:cNvPr id="11" name="Text 8"/>
          <p:cNvSpPr/>
          <p:nvPr/>
        </p:nvSpPr>
        <p:spPr>
          <a:xfrm>
            <a:off x="3099816" y="2322576"/>
            <a:ext cx="3803904"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Available evidence</a:t>
            </a:r>
            <a:endParaRPr lang="en-US" sz="1100" dirty="0"/>
          </a:p>
        </p:txBody>
      </p:sp>
      <p:sp>
        <p:nvSpPr>
          <p:cNvPr id="12" name="Shape 9"/>
          <p:cNvSpPr/>
          <p:nvPr/>
        </p:nvSpPr>
        <p:spPr>
          <a:xfrm>
            <a:off x="7022592" y="2240280"/>
            <a:ext cx="4636008" cy="393192"/>
          </a:xfrm>
          <a:prstGeom prst="roundRect">
            <a:avLst>
              <a:gd name="adj" fmla="val 23256"/>
            </a:avLst>
          </a:prstGeom>
          <a:solidFill>
            <a:srgbClr val="12233D"/>
          </a:solidFill>
          <a:ln w="9525">
            <a:solidFill>
              <a:srgbClr val="12233D"/>
            </a:solidFill>
            <a:prstDash val="solid"/>
          </a:ln>
        </p:spPr>
      </p:sp>
      <p:sp>
        <p:nvSpPr>
          <p:cNvPr id="13" name="Text 10"/>
          <p:cNvSpPr/>
          <p:nvPr/>
        </p:nvSpPr>
        <p:spPr>
          <a:xfrm>
            <a:off x="7141464" y="2322576"/>
            <a:ext cx="4398264" cy="246888"/>
          </a:xfrm>
          <a:prstGeom prst="rect">
            <a:avLst/>
          </a:prstGeom>
          <a:noFill/>
          <a:ln/>
        </p:spPr>
        <p:txBody>
          <a:bodyPr wrap="square" lIns="0" tIns="0" rIns="0" bIns="0" rtlCol="0" anchor="t"/>
          <a:lstStyle/>
          <a:p>
            <a:pPr indent="0" marL="0">
              <a:lnSpc>
                <a:spcPct val="100000"/>
              </a:lnSpc>
              <a:buNone/>
            </a:pPr>
            <a:r>
              <a:rPr lang="en-US" sz="1100" b="1" dirty="0">
                <a:solidFill>
                  <a:srgbClr val="FFFFFF"/>
                </a:solidFill>
                <a:latin typeface="Aptos" pitchFamily="34" charset="0"/>
                <a:ea typeface="Aptos" pitchFamily="34" charset="-122"/>
                <a:cs typeface="Aptos" pitchFamily="34" charset="-120"/>
              </a:rPr>
              <a:t>Gap to close</a:t>
            </a:r>
            <a:endParaRPr lang="en-US" sz="1100" dirty="0"/>
          </a:p>
        </p:txBody>
      </p:sp>
      <p:sp>
        <p:nvSpPr>
          <p:cNvPr id="14" name="Shape 11"/>
          <p:cNvSpPr/>
          <p:nvPr/>
        </p:nvSpPr>
        <p:spPr>
          <a:xfrm>
            <a:off x="502920" y="2633472"/>
            <a:ext cx="2478024" cy="393192"/>
          </a:xfrm>
          <a:prstGeom prst="roundRect">
            <a:avLst>
              <a:gd name="adj" fmla="val 23256"/>
            </a:avLst>
          </a:prstGeom>
          <a:solidFill>
            <a:srgbClr val="FFFFFF"/>
          </a:solidFill>
          <a:ln w="9525">
            <a:solidFill>
              <a:srgbClr val="D9E2F0"/>
            </a:solidFill>
            <a:prstDash val="solid"/>
          </a:ln>
        </p:spPr>
      </p:sp>
      <p:sp>
        <p:nvSpPr>
          <p:cNvPr id="15" name="Text 12"/>
          <p:cNvSpPr/>
          <p:nvPr/>
        </p:nvSpPr>
        <p:spPr>
          <a:xfrm>
            <a:off x="621792" y="2752344"/>
            <a:ext cx="2240280" cy="228600"/>
          </a:xfrm>
          <a:prstGeom prst="rect">
            <a:avLst/>
          </a:prstGeom>
          <a:noFill/>
          <a:ln/>
        </p:spPr>
        <p:txBody>
          <a:bodyPr wrap="square" lIns="0" tIns="0" rIns="0" bIns="0" rtlCol="0" anchor="t"/>
          <a:lstStyle/>
          <a:p>
            <a:pPr indent="0" marL="0">
              <a:lnSpc>
                <a:spcPct val="100000"/>
              </a:lnSpc>
              <a:buNone/>
            </a:pPr>
            <a:r>
              <a:rPr lang="en-US" sz="1300" b="1" dirty="0">
                <a:solidFill>
                  <a:srgbClr val="12233D"/>
                </a:solidFill>
                <a:latin typeface="Aptos" pitchFamily="34" charset="0"/>
                <a:ea typeface="Aptos" pitchFamily="34" charset="-122"/>
                <a:cs typeface="Aptos" pitchFamily="34" charset="-120"/>
              </a:rPr>
              <a:t>Founder + market fit</a:t>
            </a:r>
            <a:endParaRPr lang="en-US" sz="1300" dirty="0"/>
          </a:p>
        </p:txBody>
      </p:sp>
      <p:sp>
        <p:nvSpPr>
          <p:cNvPr id="16" name="Shape 13"/>
          <p:cNvSpPr/>
          <p:nvPr/>
        </p:nvSpPr>
        <p:spPr>
          <a:xfrm>
            <a:off x="2980944" y="2633472"/>
            <a:ext cx="4041648" cy="393192"/>
          </a:xfrm>
          <a:prstGeom prst="roundRect">
            <a:avLst>
              <a:gd name="adj" fmla="val 23256"/>
            </a:avLst>
          </a:prstGeom>
          <a:solidFill>
            <a:srgbClr val="FFFFFF"/>
          </a:solidFill>
          <a:ln w="9525">
            <a:solidFill>
              <a:srgbClr val="D9E2F0"/>
            </a:solidFill>
            <a:prstDash val="solid"/>
          </a:ln>
        </p:spPr>
      </p:sp>
      <p:sp>
        <p:nvSpPr>
          <p:cNvPr id="17" name="Text 14"/>
          <p:cNvSpPr/>
          <p:nvPr/>
        </p:nvSpPr>
        <p:spPr>
          <a:xfrm>
            <a:off x="3099816" y="2752344"/>
            <a:ext cx="380390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Employment + finance experience</a:t>
            </a:r>
            <a:endParaRPr lang="en-US" sz="1300" dirty="0"/>
          </a:p>
        </p:txBody>
      </p:sp>
      <p:sp>
        <p:nvSpPr>
          <p:cNvPr id="18" name="Shape 15"/>
          <p:cNvSpPr/>
          <p:nvPr/>
        </p:nvSpPr>
        <p:spPr>
          <a:xfrm>
            <a:off x="7022592" y="2633472"/>
            <a:ext cx="4636008" cy="393192"/>
          </a:xfrm>
          <a:prstGeom prst="roundRect">
            <a:avLst>
              <a:gd name="adj" fmla="val 23256"/>
            </a:avLst>
          </a:prstGeom>
          <a:solidFill>
            <a:srgbClr val="FFFFFF"/>
          </a:solidFill>
          <a:ln w="9525">
            <a:solidFill>
              <a:srgbClr val="D9E2F0"/>
            </a:solidFill>
            <a:prstDash val="solid"/>
          </a:ln>
        </p:spPr>
      </p:sp>
      <p:sp>
        <p:nvSpPr>
          <p:cNvPr id="19" name="Text 16"/>
          <p:cNvSpPr/>
          <p:nvPr/>
        </p:nvSpPr>
        <p:spPr>
          <a:xfrm>
            <a:off x="7141464" y="2752344"/>
            <a:ext cx="439826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Specific roles and observed problem</a:t>
            </a:r>
            <a:endParaRPr lang="en-US" sz="1300" dirty="0"/>
          </a:p>
        </p:txBody>
      </p:sp>
      <p:sp>
        <p:nvSpPr>
          <p:cNvPr id="20" name="Shape 17"/>
          <p:cNvSpPr/>
          <p:nvPr/>
        </p:nvSpPr>
        <p:spPr>
          <a:xfrm>
            <a:off x="502920" y="3026664"/>
            <a:ext cx="2478024" cy="393192"/>
          </a:xfrm>
          <a:prstGeom prst="roundRect">
            <a:avLst>
              <a:gd name="adj" fmla="val 23256"/>
            </a:avLst>
          </a:prstGeom>
          <a:solidFill>
            <a:srgbClr val="EAF0FF"/>
          </a:solidFill>
          <a:ln w="9525">
            <a:solidFill>
              <a:srgbClr val="D9E2F0"/>
            </a:solidFill>
            <a:prstDash val="solid"/>
          </a:ln>
        </p:spPr>
      </p:sp>
      <p:sp>
        <p:nvSpPr>
          <p:cNvPr id="21" name="Text 18"/>
          <p:cNvSpPr/>
          <p:nvPr/>
        </p:nvSpPr>
        <p:spPr>
          <a:xfrm>
            <a:off x="621792" y="3145536"/>
            <a:ext cx="2240280" cy="228600"/>
          </a:xfrm>
          <a:prstGeom prst="rect">
            <a:avLst/>
          </a:prstGeom>
          <a:noFill/>
          <a:ln/>
        </p:spPr>
        <p:txBody>
          <a:bodyPr wrap="square" lIns="0" tIns="0" rIns="0" bIns="0" rtlCol="0" anchor="t"/>
          <a:lstStyle/>
          <a:p>
            <a:pPr indent="0" marL="0">
              <a:lnSpc>
                <a:spcPct val="100000"/>
              </a:lnSpc>
              <a:buNone/>
            </a:pPr>
            <a:r>
              <a:rPr lang="en-US" sz="1300" b="1" dirty="0">
                <a:solidFill>
                  <a:srgbClr val="12233D"/>
                </a:solidFill>
                <a:latin typeface="Aptos" pitchFamily="34" charset="0"/>
                <a:ea typeface="Aptos" pitchFamily="34" charset="-122"/>
                <a:cs typeface="Aptos" pitchFamily="34" charset="-120"/>
              </a:rPr>
              <a:t>Insight</a:t>
            </a:r>
            <a:endParaRPr lang="en-US" sz="1300" dirty="0"/>
          </a:p>
        </p:txBody>
      </p:sp>
      <p:sp>
        <p:nvSpPr>
          <p:cNvPr id="22" name="Shape 19"/>
          <p:cNvSpPr/>
          <p:nvPr/>
        </p:nvSpPr>
        <p:spPr>
          <a:xfrm>
            <a:off x="2980944" y="3026664"/>
            <a:ext cx="4041648" cy="393192"/>
          </a:xfrm>
          <a:prstGeom prst="roundRect">
            <a:avLst>
              <a:gd name="adj" fmla="val 23256"/>
            </a:avLst>
          </a:prstGeom>
          <a:solidFill>
            <a:srgbClr val="EAF0FF"/>
          </a:solidFill>
          <a:ln w="9525">
            <a:solidFill>
              <a:srgbClr val="D9E2F0"/>
            </a:solidFill>
            <a:prstDash val="solid"/>
          </a:ln>
        </p:spPr>
      </p:sp>
      <p:sp>
        <p:nvSpPr>
          <p:cNvPr id="23" name="Text 20"/>
          <p:cNvSpPr/>
          <p:nvPr/>
        </p:nvSpPr>
        <p:spPr>
          <a:xfrm>
            <a:off x="3099816" y="3145536"/>
            <a:ext cx="380390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Testable workflow hypothesis</a:t>
            </a:r>
            <a:endParaRPr lang="en-US" sz="1300" dirty="0"/>
          </a:p>
        </p:txBody>
      </p:sp>
      <p:sp>
        <p:nvSpPr>
          <p:cNvPr id="24" name="Shape 21"/>
          <p:cNvSpPr/>
          <p:nvPr/>
        </p:nvSpPr>
        <p:spPr>
          <a:xfrm>
            <a:off x="7022592" y="3026664"/>
            <a:ext cx="4636008" cy="393192"/>
          </a:xfrm>
          <a:prstGeom prst="roundRect">
            <a:avLst>
              <a:gd name="adj" fmla="val 23256"/>
            </a:avLst>
          </a:prstGeom>
          <a:solidFill>
            <a:srgbClr val="EAF0FF"/>
          </a:solidFill>
          <a:ln w="9525">
            <a:solidFill>
              <a:srgbClr val="D9E2F0"/>
            </a:solidFill>
            <a:prstDash val="solid"/>
          </a:ln>
        </p:spPr>
      </p:sp>
      <p:sp>
        <p:nvSpPr>
          <p:cNvPr id="25" name="Text 22"/>
          <p:cNvSpPr/>
          <p:nvPr/>
        </p:nvSpPr>
        <p:spPr>
          <a:xfrm>
            <a:off x="7141464" y="3145536"/>
            <a:ext cx="439826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Firsthand customer and bank/API comparison</a:t>
            </a:r>
            <a:endParaRPr lang="en-US" sz="1300" dirty="0"/>
          </a:p>
        </p:txBody>
      </p:sp>
      <p:sp>
        <p:nvSpPr>
          <p:cNvPr id="26" name="Shape 23"/>
          <p:cNvSpPr/>
          <p:nvPr/>
        </p:nvSpPr>
        <p:spPr>
          <a:xfrm>
            <a:off x="502920" y="3419856"/>
            <a:ext cx="2478024" cy="393192"/>
          </a:xfrm>
          <a:prstGeom prst="roundRect">
            <a:avLst>
              <a:gd name="adj" fmla="val 23256"/>
            </a:avLst>
          </a:prstGeom>
          <a:solidFill>
            <a:srgbClr val="FFFFFF"/>
          </a:solidFill>
          <a:ln w="9525">
            <a:solidFill>
              <a:srgbClr val="D9E2F0"/>
            </a:solidFill>
            <a:prstDash val="solid"/>
          </a:ln>
        </p:spPr>
      </p:sp>
      <p:sp>
        <p:nvSpPr>
          <p:cNvPr id="27" name="Text 24"/>
          <p:cNvSpPr/>
          <p:nvPr/>
        </p:nvSpPr>
        <p:spPr>
          <a:xfrm>
            <a:off x="621792" y="3538728"/>
            <a:ext cx="2240280" cy="228600"/>
          </a:xfrm>
          <a:prstGeom prst="rect">
            <a:avLst/>
          </a:prstGeom>
          <a:noFill/>
          <a:ln/>
        </p:spPr>
        <p:txBody>
          <a:bodyPr wrap="square" lIns="0" tIns="0" rIns="0" bIns="0" rtlCol="0" anchor="t"/>
          <a:lstStyle/>
          <a:p>
            <a:pPr indent="0" marL="0">
              <a:lnSpc>
                <a:spcPct val="100000"/>
              </a:lnSpc>
              <a:buNone/>
            </a:pPr>
            <a:r>
              <a:rPr lang="en-US" sz="1300" b="1" dirty="0">
                <a:solidFill>
                  <a:srgbClr val="12233D"/>
                </a:solidFill>
                <a:latin typeface="Aptos" pitchFamily="34" charset="0"/>
                <a:ea typeface="Aptos" pitchFamily="34" charset="-122"/>
                <a:cs typeface="Aptos" pitchFamily="34" charset="-120"/>
              </a:rPr>
              <a:t>Product + execution</a:t>
            </a:r>
            <a:endParaRPr lang="en-US" sz="1300" dirty="0"/>
          </a:p>
        </p:txBody>
      </p:sp>
      <p:sp>
        <p:nvSpPr>
          <p:cNvPr id="28" name="Shape 25"/>
          <p:cNvSpPr/>
          <p:nvPr/>
        </p:nvSpPr>
        <p:spPr>
          <a:xfrm>
            <a:off x="2980944" y="3419856"/>
            <a:ext cx="4041648" cy="393192"/>
          </a:xfrm>
          <a:prstGeom prst="roundRect">
            <a:avLst>
              <a:gd name="adj" fmla="val 23256"/>
            </a:avLst>
          </a:prstGeom>
          <a:solidFill>
            <a:srgbClr val="FFFFFF"/>
          </a:solidFill>
          <a:ln w="9525">
            <a:solidFill>
              <a:srgbClr val="D9E2F0"/>
            </a:solidFill>
            <a:prstDash val="solid"/>
          </a:ln>
        </p:spPr>
      </p:sp>
      <p:sp>
        <p:nvSpPr>
          <p:cNvPr id="29" name="Text 26"/>
          <p:cNvSpPr/>
          <p:nvPr/>
        </p:nvSpPr>
        <p:spPr>
          <a:xfrm>
            <a:off x="3099816" y="3538728"/>
            <a:ext cx="380390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Purchase code + shipping history</a:t>
            </a:r>
            <a:endParaRPr lang="en-US" sz="1300" dirty="0"/>
          </a:p>
        </p:txBody>
      </p:sp>
      <p:sp>
        <p:nvSpPr>
          <p:cNvPr id="30" name="Shape 27"/>
          <p:cNvSpPr/>
          <p:nvPr/>
        </p:nvSpPr>
        <p:spPr>
          <a:xfrm>
            <a:off x="7022592" y="3419856"/>
            <a:ext cx="4636008" cy="393192"/>
          </a:xfrm>
          <a:prstGeom prst="roundRect">
            <a:avLst>
              <a:gd name="adj" fmla="val 23256"/>
            </a:avLst>
          </a:prstGeom>
          <a:solidFill>
            <a:srgbClr val="FFFFFF"/>
          </a:solidFill>
          <a:ln w="9525">
            <a:solidFill>
              <a:srgbClr val="D9E2F0"/>
            </a:solidFill>
            <a:prstDash val="solid"/>
          </a:ln>
        </p:spPr>
      </p:sp>
      <p:sp>
        <p:nvSpPr>
          <p:cNvPr id="31" name="Text 28"/>
          <p:cNvSpPr/>
          <p:nvPr/>
        </p:nvSpPr>
        <p:spPr>
          <a:xfrm>
            <a:off x="7141464" y="3538728"/>
            <a:ext cx="439826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Verified run, feedback and recovery</a:t>
            </a:r>
            <a:endParaRPr lang="en-US" sz="1300" dirty="0"/>
          </a:p>
        </p:txBody>
      </p:sp>
      <p:sp>
        <p:nvSpPr>
          <p:cNvPr id="32" name="Shape 29"/>
          <p:cNvSpPr/>
          <p:nvPr/>
        </p:nvSpPr>
        <p:spPr>
          <a:xfrm>
            <a:off x="502920" y="3813048"/>
            <a:ext cx="2478024" cy="393192"/>
          </a:xfrm>
          <a:prstGeom prst="roundRect">
            <a:avLst>
              <a:gd name="adj" fmla="val 23256"/>
            </a:avLst>
          </a:prstGeom>
          <a:solidFill>
            <a:srgbClr val="EAF0FF"/>
          </a:solidFill>
          <a:ln w="9525">
            <a:solidFill>
              <a:srgbClr val="D9E2F0"/>
            </a:solidFill>
            <a:prstDash val="solid"/>
          </a:ln>
        </p:spPr>
      </p:sp>
      <p:sp>
        <p:nvSpPr>
          <p:cNvPr id="33" name="Text 30"/>
          <p:cNvSpPr/>
          <p:nvPr/>
        </p:nvSpPr>
        <p:spPr>
          <a:xfrm>
            <a:off x="621792" y="3931920"/>
            <a:ext cx="2240280" cy="228600"/>
          </a:xfrm>
          <a:prstGeom prst="rect">
            <a:avLst/>
          </a:prstGeom>
          <a:noFill/>
          <a:ln/>
        </p:spPr>
        <p:txBody>
          <a:bodyPr wrap="square" lIns="0" tIns="0" rIns="0" bIns="0" rtlCol="0" anchor="t"/>
          <a:lstStyle/>
          <a:p>
            <a:pPr indent="0" marL="0">
              <a:lnSpc>
                <a:spcPct val="100000"/>
              </a:lnSpc>
              <a:buNone/>
            </a:pPr>
            <a:r>
              <a:rPr lang="en-US" sz="1300" b="1" dirty="0">
                <a:solidFill>
                  <a:srgbClr val="12233D"/>
                </a:solidFill>
                <a:latin typeface="Aptos" pitchFamily="34" charset="0"/>
                <a:ea typeface="Aptos" pitchFamily="34" charset="-122"/>
                <a:cs typeface="Aptos" pitchFamily="34" charset="-120"/>
              </a:rPr>
              <a:t>Market size</a:t>
            </a:r>
            <a:endParaRPr lang="en-US" sz="1300" dirty="0"/>
          </a:p>
        </p:txBody>
      </p:sp>
      <p:sp>
        <p:nvSpPr>
          <p:cNvPr id="34" name="Shape 31"/>
          <p:cNvSpPr/>
          <p:nvPr/>
        </p:nvSpPr>
        <p:spPr>
          <a:xfrm>
            <a:off x="2980944" y="3813048"/>
            <a:ext cx="4041648" cy="393192"/>
          </a:xfrm>
          <a:prstGeom prst="roundRect">
            <a:avLst>
              <a:gd name="adj" fmla="val 23256"/>
            </a:avLst>
          </a:prstGeom>
          <a:solidFill>
            <a:srgbClr val="EAF0FF"/>
          </a:solidFill>
          <a:ln w="9525">
            <a:solidFill>
              <a:srgbClr val="D9E2F0"/>
            </a:solidFill>
            <a:prstDash val="solid"/>
          </a:ln>
        </p:spPr>
      </p:sp>
      <p:sp>
        <p:nvSpPr>
          <p:cNvPr id="35" name="Text 32"/>
          <p:cNvSpPr/>
          <p:nvPr/>
        </p:nvSpPr>
        <p:spPr>
          <a:xfrm>
            <a:off x="3099816" y="3931920"/>
            <a:ext cx="380390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Buyer universe + price sensitivity</a:t>
            </a:r>
            <a:endParaRPr lang="en-US" sz="1300" dirty="0"/>
          </a:p>
        </p:txBody>
      </p:sp>
      <p:sp>
        <p:nvSpPr>
          <p:cNvPr id="36" name="Shape 33"/>
          <p:cNvSpPr/>
          <p:nvPr/>
        </p:nvSpPr>
        <p:spPr>
          <a:xfrm>
            <a:off x="7022592" y="3813048"/>
            <a:ext cx="4636008" cy="393192"/>
          </a:xfrm>
          <a:prstGeom prst="roundRect">
            <a:avLst>
              <a:gd name="adj" fmla="val 23256"/>
            </a:avLst>
          </a:prstGeom>
          <a:solidFill>
            <a:srgbClr val="EAF0FF"/>
          </a:solidFill>
          <a:ln w="9525">
            <a:solidFill>
              <a:srgbClr val="D9E2F0"/>
            </a:solidFill>
            <a:prstDash val="solid"/>
          </a:ln>
        </p:spPr>
      </p:sp>
      <p:sp>
        <p:nvSpPr>
          <p:cNvPr id="37" name="Text 34"/>
          <p:cNvSpPr/>
          <p:nvPr/>
        </p:nvSpPr>
        <p:spPr>
          <a:xfrm>
            <a:off x="7141464" y="3931920"/>
            <a:ext cx="439826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Qualified buyers, budgets and volume</a:t>
            </a:r>
            <a:endParaRPr lang="en-US" sz="1300" dirty="0"/>
          </a:p>
        </p:txBody>
      </p:sp>
      <p:sp>
        <p:nvSpPr>
          <p:cNvPr id="38" name="Shape 35"/>
          <p:cNvSpPr/>
          <p:nvPr/>
        </p:nvSpPr>
        <p:spPr>
          <a:xfrm>
            <a:off x="502920" y="4206240"/>
            <a:ext cx="2478024" cy="393192"/>
          </a:xfrm>
          <a:prstGeom prst="roundRect">
            <a:avLst>
              <a:gd name="adj" fmla="val 23256"/>
            </a:avLst>
          </a:prstGeom>
          <a:solidFill>
            <a:srgbClr val="FFFFFF"/>
          </a:solidFill>
          <a:ln w="9525">
            <a:solidFill>
              <a:srgbClr val="D9E2F0"/>
            </a:solidFill>
            <a:prstDash val="solid"/>
          </a:ln>
        </p:spPr>
      </p:sp>
      <p:sp>
        <p:nvSpPr>
          <p:cNvPr id="39" name="Text 36"/>
          <p:cNvSpPr/>
          <p:nvPr/>
        </p:nvSpPr>
        <p:spPr>
          <a:xfrm>
            <a:off x="621792" y="4325112"/>
            <a:ext cx="2240280" cy="228600"/>
          </a:xfrm>
          <a:prstGeom prst="rect">
            <a:avLst/>
          </a:prstGeom>
          <a:noFill/>
          <a:ln/>
        </p:spPr>
        <p:txBody>
          <a:bodyPr wrap="square" lIns="0" tIns="0" rIns="0" bIns="0" rtlCol="0" anchor="t"/>
          <a:lstStyle/>
          <a:p>
            <a:pPr indent="0" marL="0">
              <a:lnSpc>
                <a:spcPct val="100000"/>
              </a:lnSpc>
              <a:buNone/>
            </a:pPr>
            <a:r>
              <a:rPr lang="en-US" sz="1300" b="1" dirty="0">
                <a:solidFill>
                  <a:srgbClr val="12233D"/>
                </a:solidFill>
                <a:latin typeface="Aptos" pitchFamily="34" charset="0"/>
                <a:ea typeface="Aptos" pitchFamily="34" charset="-122"/>
                <a:cs typeface="Aptos" pitchFamily="34" charset="-120"/>
              </a:rPr>
              <a:t>Communication</a:t>
            </a:r>
            <a:endParaRPr lang="en-US" sz="1300" dirty="0"/>
          </a:p>
        </p:txBody>
      </p:sp>
      <p:sp>
        <p:nvSpPr>
          <p:cNvPr id="40" name="Shape 37"/>
          <p:cNvSpPr/>
          <p:nvPr/>
        </p:nvSpPr>
        <p:spPr>
          <a:xfrm>
            <a:off x="2980944" y="4206240"/>
            <a:ext cx="4041648" cy="393192"/>
          </a:xfrm>
          <a:prstGeom prst="roundRect">
            <a:avLst>
              <a:gd name="adj" fmla="val 23256"/>
            </a:avLst>
          </a:prstGeom>
          <a:solidFill>
            <a:srgbClr val="FFFFFF"/>
          </a:solidFill>
          <a:ln w="9525">
            <a:solidFill>
              <a:srgbClr val="D9E2F0"/>
            </a:solidFill>
            <a:prstDash val="solid"/>
          </a:ln>
        </p:spPr>
      </p:sp>
      <p:sp>
        <p:nvSpPr>
          <p:cNvPr id="41" name="Text 38"/>
          <p:cNvSpPr/>
          <p:nvPr/>
        </p:nvSpPr>
        <p:spPr>
          <a:xfrm>
            <a:off x="3099816" y="4325112"/>
            <a:ext cx="380390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Customer-first outline</a:t>
            </a:r>
            <a:endParaRPr lang="en-US" sz="1300" dirty="0"/>
          </a:p>
        </p:txBody>
      </p:sp>
      <p:sp>
        <p:nvSpPr>
          <p:cNvPr id="42" name="Shape 39"/>
          <p:cNvSpPr/>
          <p:nvPr/>
        </p:nvSpPr>
        <p:spPr>
          <a:xfrm>
            <a:off x="7022592" y="4206240"/>
            <a:ext cx="4636008" cy="393192"/>
          </a:xfrm>
          <a:prstGeom prst="roundRect">
            <a:avLst>
              <a:gd name="adj" fmla="val 23256"/>
            </a:avLst>
          </a:prstGeom>
          <a:solidFill>
            <a:srgbClr val="FFFFFF"/>
          </a:solidFill>
          <a:ln w="9525">
            <a:solidFill>
              <a:srgbClr val="D9E2F0"/>
            </a:solidFill>
            <a:prstDash val="solid"/>
          </a:ln>
        </p:spPr>
      </p:sp>
      <p:sp>
        <p:nvSpPr>
          <p:cNvPr id="43" name="Text 40"/>
          <p:cNvSpPr/>
          <p:nvPr/>
        </p:nvSpPr>
        <p:spPr>
          <a:xfrm>
            <a:off x="7141464" y="4325112"/>
            <a:ext cx="439826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Founder voice and precise asset rights</a:t>
            </a:r>
            <a:endParaRPr lang="en-US" sz="1300" dirty="0"/>
          </a:p>
        </p:txBody>
      </p:sp>
      <p:sp>
        <p:nvSpPr>
          <p:cNvPr id="44" name="Shape 41"/>
          <p:cNvSpPr/>
          <p:nvPr/>
        </p:nvSpPr>
        <p:spPr>
          <a:xfrm>
            <a:off x="502920" y="4599432"/>
            <a:ext cx="2478024" cy="393192"/>
          </a:xfrm>
          <a:prstGeom prst="roundRect">
            <a:avLst>
              <a:gd name="adj" fmla="val 23256"/>
            </a:avLst>
          </a:prstGeom>
          <a:solidFill>
            <a:srgbClr val="EAF0FF"/>
          </a:solidFill>
          <a:ln w="9525">
            <a:solidFill>
              <a:srgbClr val="D9E2F0"/>
            </a:solidFill>
            <a:prstDash val="solid"/>
          </a:ln>
        </p:spPr>
      </p:sp>
      <p:sp>
        <p:nvSpPr>
          <p:cNvPr id="45" name="Text 42"/>
          <p:cNvSpPr/>
          <p:nvPr/>
        </p:nvSpPr>
        <p:spPr>
          <a:xfrm>
            <a:off x="621792" y="4718304"/>
            <a:ext cx="2240280" cy="228600"/>
          </a:xfrm>
          <a:prstGeom prst="rect">
            <a:avLst/>
          </a:prstGeom>
          <a:noFill/>
          <a:ln/>
        </p:spPr>
        <p:txBody>
          <a:bodyPr wrap="square" lIns="0" tIns="0" rIns="0" bIns="0" rtlCol="0" anchor="t"/>
          <a:lstStyle/>
          <a:p>
            <a:pPr indent="0" marL="0">
              <a:lnSpc>
                <a:spcPct val="100000"/>
              </a:lnSpc>
              <a:buNone/>
            </a:pPr>
            <a:r>
              <a:rPr lang="en-US" sz="1300" b="1" dirty="0">
                <a:solidFill>
                  <a:srgbClr val="12233D"/>
                </a:solidFill>
                <a:latin typeface="Aptos" pitchFamily="34" charset="0"/>
                <a:ea typeface="Aptos" pitchFamily="34" charset="-122"/>
                <a:cs typeface="Aptos" pitchFamily="34" charset="-120"/>
              </a:rPr>
              <a:t>Viability</a:t>
            </a:r>
            <a:endParaRPr lang="en-US" sz="1300" dirty="0"/>
          </a:p>
        </p:txBody>
      </p:sp>
      <p:sp>
        <p:nvSpPr>
          <p:cNvPr id="46" name="Shape 43"/>
          <p:cNvSpPr/>
          <p:nvPr/>
        </p:nvSpPr>
        <p:spPr>
          <a:xfrm>
            <a:off x="2980944" y="4599432"/>
            <a:ext cx="4041648" cy="393192"/>
          </a:xfrm>
          <a:prstGeom prst="roundRect">
            <a:avLst>
              <a:gd name="adj" fmla="val 23256"/>
            </a:avLst>
          </a:prstGeom>
          <a:solidFill>
            <a:srgbClr val="EAF0FF"/>
          </a:solidFill>
          <a:ln w="9525">
            <a:solidFill>
              <a:srgbClr val="D9E2F0"/>
            </a:solidFill>
            <a:prstDash val="solid"/>
          </a:ln>
        </p:spPr>
      </p:sp>
      <p:sp>
        <p:nvSpPr>
          <p:cNvPr id="47" name="Text 44"/>
          <p:cNvSpPr/>
          <p:nvPr/>
        </p:nvSpPr>
        <p:spPr>
          <a:xfrm>
            <a:off x="3099816" y="4718304"/>
            <a:ext cx="380390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Partner model + fee scenarios</a:t>
            </a:r>
            <a:endParaRPr lang="en-US" sz="1300" dirty="0"/>
          </a:p>
        </p:txBody>
      </p:sp>
      <p:sp>
        <p:nvSpPr>
          <p:cNvPr id="48" name="Shape 45"/>
          <p:cNvSpPr/>
          <p:nvPr/>
        </p:nvSpPr>
        <p:spPr>
          <a:xfrm>
            <a:off x="7022592" y="4599432"/>
            <a:ext cx="4636008" cy="393192"/>
          </a:xfrm>
          <a:prstGeom prst="roundRect">
            <a:avLst>
              <a:gd name="adj" fmla="val 23256"/>
            </a:avLst>
          </a:prstGeom>
          <a:solidFill>
            <a:srgbClr val="EAF0FF"/>
          </a:solidFill>
          <a:ln w="9525">
            <a:solidFill>
              <a:srgbClr val="D9E2F0"/>
            </a:solidFill>
            <a:prstDash val="solid"/>
          </a:ln>
        </p:spPr>
      </p:sp>
      <p:sp>
        <p:nvSpPr>
          <p:cNvPr id="49" name="Text 46"/>
          <p:cNvSpPr/>
          <p:nvPr/>
        </p:nvSpPr>
        <p:spPr>
          <a:xfrm>
            <a:off x="7141464" y="4718304"/>
            <a:ext cx="439826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Permissions, costs and repeat use</a:t>
            </a:r>
            <a:endParaRPr lang="en-US" sz="1300" dirty="0"/>
          </a:p>
        </p:txBody>
      </p:sp>
      <p:sp>
        <p:nvSpPr>
          <p:cNvPr id="50" name="Shape 47"/>
          <p:cNvSpPr/>
          <p:nvPr/>
        </p:nvSpPr>
        <p:spPr>
          <a:xfrm>
            <a:off x="502920" y="4992624"/>
            <a:ext cx="2478024" cy="393192"/>
          </a:xfrm>
          <a:prstGeom prst="roundRect">
            <a:avLst>
              <a:gd name="adj" fmla="val 23256"/>
            </a:avLst>
          </a:prstGeom>
          <a:solidFill>
            <a:srgbClr val="FFFFFF"/>
          </a:solidFill>
          <a:ln w="9525">
            <a:solidFill>
              <a:srgbClr val="D9E2F0"/>
            </a:solidFill>
            <a:prstDash val="solid"/>
          </a:ln>
        </p:spPr>
      </p:sp>
      <p:sp>
        <p:nvSpPr>
          <p:cNvPr id="51" name="Text 48"/>
          <p:cNvSpPr/>
          <p:nvPr/>
        </p:nvSpPr>
        <p:spPr>
          <a:xfrm>
            <a:off x="621792" y="5111496"/>
            <a:ext cx="2240280" cy="228600"/>
          </a:xfrm>
          <a:prstGeom prst="rect">
            <a:avLst/>
          </a:prstGeom>
          <a:noFill/>
          <a:ln/>
        </p:spPr>
        <p:txBody>
          <a:bodyPr wrap="square" lIns="0" tIns="0" rIns="0" bIns="0" rtlCol="0" anchor="t"/>
          <a:lstStyle/>
          <a:p>
            <a:pPr indent="0" marL="0">
              <a:lnSpc>
                <a:spcPct val="100000"/>
              </a:lnSpc>
              <a:buNone/>
            </a:pPr>
            <a:r>
              <a:rPr lang="en-US" sz="1300" b="1" dirty="0">
                <a:solidFill>
                  <a:srgbClr val="12233D"/>
                </a:solidFill>
                <a:latin typeface="Aptos" pitchFamily="34" charset="0"/>
                <a:ea typeface="Aptos" pitchFamily="34" charset="-122"/>
                <a:cs typeface="Aptos" pitchFamily="34" charset="-120"/>
              </a:rPr>
              <a:t>Traction</a:t>
            </a:r>
            <a:endParaRPr lang="en-US" sz="1300" dirty="0"/>
          </a:p>
        </p:txBody>
      </p:sp>
      <p:sp>
        <p:nvSpPr>
          <p:cNvPr id="52" name="Shape 49"/>
          <p:cNvSpPr/>
          <p:nvPr/>
        </p:nvSpPr>
        <p:spPr>
          <a:xfrm>
            <a:off x="2980944" y="4992624"/>
            <a:ext cx="4041648" cy="393192"/>
          </a:xfrm>
          <a:prstGeom prst="roundRect">
            <a:avLst>
              <a:gd name="adj" fmla="val 23256"/>
            </a:avLst>
          </a:prstGeom>
          <a:solidFill>
            <a:srgbClr val="FFFFFF"/>
          </a:solidFill>
          <a:ln w="9525">
            <a:solidFill>
              <a:srgbClr val="D9E2F0"/>
            </a:solidFill>
            <a:prstDash val="solid"/>
          </a:ln>
        </p:spPr>
      </p:sp>
      <p:sp>
        <p:nvSpPr>
          <p:cNvPr id="53" name="Text 50"/>
          <p:cNvSpPr/>
          <p:nvPr/>
        </p:nvSpPr>
        <p:spPr>
          <a:xfrm>
            <a:off x="3099816" y="5111496"/>
            <a:ext cx="380390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Explicit demo-only disclosure</a:t>
            </a:r>
            <a:endParaRPr lang="en-US" sz="1300" dirty="0"/>
          </a:p>
        </p:txBody>
      </p:sp>
      <p:sp>
        <p:nvSpPr>
          <p:cNvPr id="54" name="Shape 51"/>
          <p:cNvSpPr/>
          <p:nvPr/>
        </p:nvSpPr>
        <p:spPr>
          <a:xfrm>
            <a:off x="7022592" y="4992624"/>
            <a:ext cx="4636008" cy="393192"/>
          </a:xfrm>
          <a:prstGeom prst="roundRect">
            <a:avLst>
              <a:gd name="adj" fmla="val 23256"/>
            </a:avLst>
          </a:prstGeom>
          <a:solidFill>
            <a:srgbClr val="FFFFFF"/>
          </a:solidFill>
          <a:ln w="9525">
            <a:solidFill>
              <a:srgbClr val="D9E2F0"/>
            </a:solidFill>
            <a:prstDash val="solid"/>
          </a:ln>
        </p:spPr>
      </p:sp>
      <p:sp>
        <p:nvSpPr>
          <p:cNvPr id="55" name="Text 52"/>
          <p:cNvSpPr/>
          <p:nvPr/>
        </p:nvSpPr>
        <p:spPr>
          <a:xfrm>
            <a:off x="7141464" y="5111496"/>
            <a:ext cx="4398264" cy="228600"/>
          </a:xfrm>
          <a:prstGeom prst="rect">
            <a:avLst/>
          </a:prstGeom>
          <a:noFill/>
          <a:ln/>
        </p:spPr>
        <p:txBody>
          <a:bodyPr wrap="square" lIns="0" tIns="0" rIns="0" bIns="0" rtlCol="0" anchor="t"/>
          <a:lstStyle/>
          <a:p>
            <a:pPr indent="0" marL="0">
              <a:lnSpc>
                <a:spcPct val="100000"/>
              </a:lnSpc>
              <a:buNone/>
            </a:pPr>
            <a:r>
              <a:rPr lang="en-US" sz="1300" dirty="0">
                <a:solidFill>
                  <a:srgbClr val="50637F"/>
                </a:solidFill>
                <a:latin typeface="Aptos" pitchFamily="34" charset="0"/>
                <a:ea typeface="Aptos" pitchFamily="34" charset="-122"/>
                <a:cs typeface="Aptos" pitchFamily="34" charset="-120"/>
              </a:rPr>
              <a:t>Actual demand and later paid usage</a:t>
            </a:r>
            <a:endParaRPr lang="en-US" sz="1300" dirty="0"/>
          </a:p>
        </p:txBody>
      </p:sp>
      <p:sp>
        <p:nvSpPr>
          <p:cNvPr id="56" name="Shape 53"/>
          <p:cNvSpPr/>
          <p:nvPr/>
        </p:nvSpPr>
        <p:spPr>
          <a:xfrm>
            <a:off x="502920" y="5596128"/>
            <a:ext cx="11155680" cy="621792"/>
          </a:xfrm>
          <a:prstGeom prst="roundRect">
            <a:avLst>
              <a:gd name="adj" fmla="val 14706"/>
            </a:avLst>
          </a:prstGeom>
          <a:solidFill>
            <a:srgbClr val="FFF4D8"/>
          </a:solidFill>
          <a:ln w="9525">
            <a:solidFill>
              <a:srgbClr val="FFF4D8"/>
            </a:solidFill>
            <a:prstDash val="solid"/>
          </a:ln>
        </p:spPr>
      </p:sp>
      <p:sp>
        <p:nvSpPr>
          <p:cNvPr id="57" name="Text 54"/>
          <p:cNvSpPr/>
          <p:nvPr/>
        </p:nvSpPr>
        <p:spPr>
          <a:xfrm>
            <a:off x="685800" y="5705856"/>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58" name="Text 55"/>
          <p:cNvSpPr/>
          <p:nvPr/>
        </p:nvSpPr>
        <p:spPr>
          <a:xfrm>
            <a:off x="2267712" y="5705856"/>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Formal rules also call for functionality, impact, novelty, UX and open-source composition.</a:t>
            </a:r>
            <a:endParaRPr lang="en-US" sz="1400" dirty="0"/>
          </a:p>
        </p:txBody>
      </p:sp>
      <p:sp>
        <p:nvSpPr>
          <p:cNvPr id="59" name="Text 56"/>
          <p:cNvSpPr/>
          <p:nvPr/>
        </p:nvSpPr>
        <p:spPr>
          <a:xfrm>
            <a:off x="530352" y="6291072"/>
            <a:ext cx="530352" cy="182880"/>
          </a:xfrm>
          <a:prstGeom prst="rect">
            <a:avLst/>
          </a:prstGeom>
          <a:noFill/>
          <a:ln/>
        </p:spPr>
        <p:txBody>
          <a:bodyPr wrap="square" lIns="0" tIns="0" rIns="0" bIns="0" rtlCol="0" anchor="t"/>
          <a:lstStyle/>
          <a:p>
            <a:pPr indent="0" marL="0">
              <a:lnSpc>
                <a:spcPct val="100000"/>
              </a:lnSpc>
              <a:buNone/>
            </a:pPr>
            <a:r>
              <a:rPr lang="en-US" sz="800" dirty="0">
                <a:solidFill>
                  <a:srgbClr val="50637F"/>
                </a:solidFill>
                <a:latin typeface="Aptos" pitchFamily="34" charset="0"/>
                <a:ea typeface="Aptos" pitchFamily="34" charset="-122"/>
                <a:cs typeface="Aptos" pitchFamily="34" charset="-120"/>
              </a:rPr>
              <a:t>Sources</a:t>
            </a:r>
            <a:endParaRPr lang="en-US" sz="800" dirty="0"/>
          </a:p>
        </p:txBody>
      </p:sp>
      <p:sp>
        <p:nvSpPr>
          <p:cNvPr id="60" name="Text 57">
            <a:hlinkClick r:id="rId1" tooltip=""/>
          </p:cNvPr>
          <p:cNvSpPr/>
          <p:nvPr/>
        </p:nvSpPr>
        <p:spPr>
          <a:xfrm>
            <a:off x="1097280"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a:t>
            </a:r>
            <a:endParaRPr lang="en-US" sz="800" dirty="0"/>
          </a:p>
        </p:txBody>
      </p:sp>
      <p:sp>
        <p:nvSpPr>
          <p:cNvPr id="61" name="Text 58">
            <a:hlinkClick r:id="rId2" tooltip=""/>
          </p:cNvPr>
          <p:cNvSpPr/>
          <p:nvPr/>
        </p:nvSpPr>
        <p:spPr>
          <a:xfrm>
            <a:off x="1572768" y="6291072"/>
            <a:ext cx="384048" cy="182880"/>
          </a:xfrm>
          <a:prstGeom prst="rect">
            <a:avLst/>
          </a:prstGeom>
          <a:noFill/>
          <a:ln/>
        </p:spPr>
        <p:txBody>
          <a:bodyPr wrap="square" lIns="0" tIns="0" rIns="0" bIns="0" rtlCol="0" anchor="t"/>
          <a:lstStyle/>
          <a:p>
            <a:pPr indent="0" marL="0">
              <a:lnSpc>
                <a:spcPct val="100000"/>
              </a:lnSpc>
              <a:buNone/>
            </a:pPr>
            <a:r>
              <a:rPr lang="en-US" sz="800" u="sng" dirty="0">
                <a:solidFill>
                  <a:srgbClr val="50637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D"/>
        </a:solidFill>
      </p:bgPr>
    </p:bg>
    <p:spTree>
      <p:nvGrpSpPr>
        <p:cNvPr id="1" name=""/>
        <p:cNvGrpSpPr/>
        <p:nvPr/>
      </p:nvGrpSpPr>
      <p:grpSpPr>
        <a:xfrm>
          <a:off x="0" y="0"/>
          <a:ext cx="0" cy="0"/>
          <a:chOff x="0" y="0"/>
          <a:chExt cx="0" cy="0"/>
        </a:xfrm>
      </p:grpSpPr>
      <p:sp>
        <p:nvSpPr>
          <p:cNvPr id="2" name="Text 0"/>
          <p:cNvSpPr/>
          <p:nvPr/>
        </p:nvSpPr>
        <p:spPr>
          <a:xfrm>
            <a:off x="502920" y="292608"/>
            <a:ext cx="10881360" cy="219456"/>
          </a:xfrm>
          <a:prstGeom prst="rect">
            <a:avLst/>
          </a:prstGeom>
          <a:noFill/>
          <a:ln/>
        </p:spPr>
        <p:txBody>
          <a:bodyPr wrap="square" lIns="0" tIns="0" rIns="0" bIns="0" rtlCol="0" anchor="t"/>
          <a:lstStyle/>
          <a:p>
            <a:pPr indent="0" marL="0">
              <a:lnSpc>
                <a:spcPct val="100000"/>
              </a:lnSpc>
              <a:buNone/>
            </a:pPr>
            <a:r>
              <a:rPr lang="en-US" sz="1000" b="1" spc="150" kern="0" dirty="0">
                <a:solidFill>
                  <a:srgbClr val="4175FF"/>
                </a:solidFill>
                <a:latin typeface="Aptos" pitchFamily="34" charset="0"/>
                <a:ea typeface="Aptos" pitchFamily="34" charset="-122"/>
                <a:cs typeface="Aptos" pitchFamily="34" charset="-120"/>
              </a:rPr>
              <a:t>APPENDIX · RESEARCH</a:t>
            </a:r>
            <a:endParaRPr lang="en-US" sz="1000" dirty="0"/>
          </a:p>
        </p:txBody>
      </p:sp>
      <p:sp>
        <p:nvSpPr>
          <p:cNvPr id="3" name="Text 1"/>
          <p:cNvSpPr/>
          <p:nvPr/>
        </p:nvSpPr>
        <p:spPr>
          <a:xfrm>
            <a:off x="502920" y="731520"/>
            <a:ext cx="11109960" cy="731520"/>
          </a:xfrm>
          <a:prstGeom prst="rect">
            <a:avLst/>
          </a:prstGeom>
          <a:noFill/>
          <a:ln/>
        </p:spPr>
        <p:txBody>
          <a:bodyPr wrap="square" lIns="0" tIns="0" rIns="0" bIns="0" rtlCol="0" anchor="t"/>
          <a:lstStyle/>
          <a:p>
            <a:pPr indent="0" marL="0">
              <a:lnSpc>
                <a:spcPct val="100000"/>
              </a:lnSpc>
              <a:buNone/>
            </a:pPr>
            <a:r>
              <a:rPr lang="en-US" sz="3000" b="1" dirty="0">
                <a:solidFill>
                  <a:srgbClr val="12233D"/>
                </a:solidFill>
                <a:latin typeface="Aptos Display" pitchFamily="34" charset="0"/>
                <a:ea typeface="Aptos Display" pitchFamily="34" charset="-122"/>
                <a:cs typeface="Aptos Display" pitchFamily="34" charset="-120"/>
              </a:rPr>
              <a:t>Sources and limits</a:t>
            </a:r>
            <a:endParaRPr lang="en-US" sz="3000" dirty="0"/>
          </a:p>
        </p:txBody>
      </p:sp>
      <p:sp>
        <p:nvSpPr>
          <p:cNvPr id="4" name="Text 2"/>
          <p:cNvSpPr/>
          <p:nvPr/>
        </p:nvSpPr>
        <p:spPr>
          <a:xfrm>
            <a:off x="502920" y="1554480"/>
            <a:ext cx="11064240" cy="329184"/>
          </a:xfrm>
          <a:prstGeom prst="rect">
            <a:avLst/>
          </a:prstGeom>
          <a:noFill/>
          <a:ln/>
        </p:spPr>
        <p:txBody>
          <a:bodyPr wrap="square" lIns="0" tIns="0" rIns="0" bIns="0" rtlCol="0" anchor="t"/>
          <a:lstStyle/>
          <a:p>
            <a:pPr indent="0" marL="0">
              <a:lnSpc>
                <a:spcPct val="100000"/>
              </a:lnSpc>
              <a:buNone/>
            </a:pPr>
            <a:r>
              <a:rPr lang="en-US" sz="1600" dirty="0">
                <a:solidFill>
                  <a:srgbClr val="50637F"/>
                </a:solidFill>
                <a:latin typeface="Aptos" pitchFamily="34" charset="0"/>
                <a:ea typeface="Aptos" pitchFamily="34" charset="-122"/>
                <a:cs typeface="Aptos" pitchFamily="34" charset="-120"/>
              </a:rPr>
              <a:t>Research cut: 7 October 2026. Full source register accompanies this deck.</a:t>
            </a:r>
            <a:endParaRPr lang="en-US" sz="1600" dirty="0"/>
          </a:p>
        </p:txBody>
      </p:sp>
      <p:sp>
        <p:nvSpPr>
          <p:cNvPr id="5" name="Text 3"/>
          <p:cNvSpPr/>
          <p:nvPr/>
        </p:nvSpPr>
        <p:spPr>
          <a:xfrm>
            <a:off x="502920" y="6473952"/>
            <a:ext cx="7315200" cy="182880"/>
          </a:xfrm>
          <a:prstGeom prst="rect">
            <a:avLst/>
          </a:prstGeom>
          <a:noFill/>
          <a:ln/>
        </p:spPr>
        <p:txBody>
          <a:bodyPr wrap="square" lIns="0" tIns="0" rIns="0" bIns="0" rtlCol="0" anchor="t"/>
          <a:lstStyle/>
          <a:p>
            <a:pPr indent="0" marL="0">
              <a:lnSpc>
                <a:spcPct val="100000"/>
              </a:lnSpc>
              <a:buNone/>
            </a:pPr>
            <a:r>
              <a:rPr lang="en-US" sz="900" dirty="0">
                <a:solidFill>
                  <a:srgbClr val="50637F"/>
                </a:solidFill>
                <a:latin typeface="Aptos" pitchFamily="34" charset="0"/>
                <a:ea typeface="Aptos" pitchFamily="34" charset="-122"/>
                <a:cs typeface="Aptos" pitchFamily="34" charset="-120"/>
              </a:rPr>
              <a:t>RABOVEL  /  RESEARCH BLUEPRINT  /  07 OCT 2026</a:t>
            </a:r>
            <a:endParaRPr lang="en-US" sz="900" dirty="0"/>
          </a:p>
        </p:txBody>
      </p:sp>
      <p:sp>
        <p:nvSpPr>
          <p:cNvPr id="6" name="Text 4"/>
          <p:cNvSpPr/>
          <p:nvPr/>
        </p:nvSpPr>
        <p:spPr>
          <a:xfrm>
            <a:off x="10332720" y="6455664"/>
            <a:ext cx="1371600" cy="228600"/>
          </a:xfrm>
          <a:prstGeom prst="rect">
            <a:avLst/>
          </a:prstGeom>
          <a:noFill/>
          <a:ln/>
        </p:spPr>
        <p:txBody>
          <a:bodyPr wrap="square" lIns="0" tIns="0" rIns="0" bIns="0" rtlCol="0" anchor="t"/>
          <a:lstStyle/>
          <a:p>
            <a:pPr algn="r" indent="0" marL="0">
              <a:lnSpc>
                <a:spcPct val="100000"/>
              </a:lnSpc>
              <a:buNone/>
            </a:pPr>
            <a:r>
              <a:rPr lang="en-US" sz="1000" dirty="0">
                <a:solidFill>
                  <a:srgbClr val="50637F"/>
                </a:solidFill>
                <a:latin typeface="Aptos" pitchFamily="34" charset="0"/>
                <a:ea typeface="Aptos" pitchFamily="34" charset="-122"/>
                <a:cs typeface="Aptos" pitchFamily="34" charset="-120"/>
              </a:rPr>
              <a:t>APPENDIX  ·  15</a:t>
            </a:r>
            <a:endParaRPr lang="en-US" sz="1000" dirty="0"/>
          </a:p>
        </p:txBody>
      </p:sp>
      <p:sp>
        <p:nvSpPr>
          <p:cNvPr id="8" name="Text 5"/>
          <p:cNvSpPr/>
          <p:nvPr/>
        </p:nvSpPr>
        <p:spPr>
          <a:xfrm>
            <a:off x="594360" y="223113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a:t>
            </a:r>
            <a:endParaRPr lang="en-US" sz="1100" dirty="0"/>
          </a:p>
        </p:txBody>
      </p:sp>
      <p:sp>
        <p:nvSpPr>
          <p:cNvPr id="9" name="Text 6">
            <a:hlinkClick r:id="rId1" tooltip=""/>
          </p:cNvPr>
          <p:cNvSpPr/>
          <p:nvPr/>
        </p:nvSpPr>
        <p:spPr>
          <a:xfrm>
            <a:off x="1124712" y="223113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Colosseum FAQ</a:t>
            </a:r>
            <a:endParaRPr lang="en-US" sz="1300" dirty="0"/>
          </a:p>
        </p:txBody>
      </p:sp>
      <p:sp>
        <p:nvSpPr>
          <p:cNvPr id="10" name="Text 7"/>
          <p:cNvSpPr/>
          <p:nvPr/>
        </p:nvSpPr>
        <p:spPr>
          <a:xfrm>
            <a:off x="6263640" y="223113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S3</a:t>
            </a:r>
            <a:endParaRPr lang="en-US" sz="1100" dirty="0"/>
          </a:p>
        </p:txBody>
      </p:sp>
      <p:sp>
        <p:nvSpPr>
          <p:cNvPr id="11" name="Text 8">
            <a:hlinkClick r:id="rId2" tooltip=""/>
          </p:cNvPr>
          <p:cNvSpPr/>
          <p:nvPr/>
        </p:nvSpPr>
        <p:spPr>
          <a:xfrm>
            <a:off x="6793992" y="223113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Crypto World’s Fair rules</a:t>
            </a:r>
            <a:endParaRPr lang="en-US" sz="1300" dirty="0"/>
          </a:p>
        </p:txBody>
      </p:sp>
      <p:sp>
        <p:nvSpPr>
          <p:cNvPr id="12" name="Text 9"/>
          <p:cNvSpPr/>
          <p:nvPr/>
        </p:nvSpPr>
        <p:spPr>
          <a:xfrm>
            <a:off x="594360" y="259689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S4</a:t>
            </a:r>
            <a:endParaRPr lang="en-US" sz="1100" dirty="0"/>
          </a:p>
        </p:txBody>
      </p:sp>
      <p:sp>
        <p:nvSpPr>
          <p:cNvPr id="13" name="Text 10">
            <a:hlinkClick r:id="rId3" tooltip=""/>
          </p:cNvPr>
          <p:cNvSpPr/>
          <p:nvPr/>
        </p:nvSpPr>
        <p:spPr>
          <a:xfrm>
            <a:off x="1124712" y="259689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NGX distribution report</a:t>
            </a:r>
            <a:endParaRPr lang="en-US" sz="1300" dirty="0"/>
          </a:p>
        </p:txBody>
      </p:sp>
      <p:sp>
        <p:nvSpPr>
          <p:cNvPr id="14" name="Text 11"/>
          <p:cNvSpPr/>
          <p:nvPr/>
        </p:nvSpPr>
        <p:spPr>
          <a:xfrm>
            <a:off x="6263640" y="259689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S5</a:t>
            </a:r>
            <a:endParaRPr lang="en-US" sz="1100" dirty="0"/>
          </a:p>
        </p:txBody>
      </p:sp>
      <p:sp>
        <p:nvSpPr>
          <p:cNvPr id="15" name="Text 12">
            <a:hlinkClick r:id="rId4" tooltip=""/>
          </p:cNvPr>
          <p:cNvSpPr/>
          <p:nvPr/>
        </p:nvSpPr>
        <p:spPr>
          <a:xfrm>
            <a:off x="6793992" y="259689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NGX Invest</a:t>
            </a:r>
            <a:endParaRPr lang="en-US" sz="1300" dirty="0"/>
          </a:p>
        </p:txBody>
      </p:sp>
      <p:sp>
        <p:nvSpPr>
          <p:cNvPr id="16" name="Text 13"/>
          <p:cNvSpPr/>
          <p:nvPr/>
        </p:nvSpPr>
        <p:spPr>
          <a:xfrm>
            <a:off x="594360" y="296265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S6</a:t>
            </a:r>
            <a:endParaRPr lang="en-US" sz="1100" dirty="0"/>
          </a:p>
        </p:txBody>
      </p:sp>
      <p:sp>
        <p:nvSpPr>
          <p:cNvPr id="17" name="Text 14">
            <a:hlinkClick r:id="rId5" tooltip=""/>
          </p:cNvPr>
          <p:cNvSpPr/>
          <p:nvPr/>
        </p:nvSpPr>
        <p:spPr>
          <a:xfrm>
            <a:off x="1124712" y="296265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NASD N-DSP announcement</a:t>
            </a:r>
            <a:endParaRPr lang="en-US" sz="1300" dirty="0"/>
          </a:p>
        </p:txBody>
      </p:sp>
      <p:sp>
        <p:nvSpPr>
          <p:cNvPr id="18" name="Text 15"/>
          <p:cNvSpPr/>
          <p:nvPr/>
        </p:nvSpPr>
        <p:spPr>
          <a:xfrm>
            <a:off x="6263640" y="296265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S7</a:t>
            </a:r>
            <a:endParaRPr lang="en-US" sz="1100" dirty="0"/>
          </a:p>
        </p:txBody>
      </p:sp>
      <p:sp>
        <p:nvSpPr>
          <p:cNvPr id="19" name="Text 16">
            <a:hlinkClick r:id="rId6" tooltip=""/>
          </p:cNvPr>
          <p:cNvSpPr/>
          <p:nvPr/>
        </p:nvSpPr>
        <p:spPr>
          <a:xfrm>
            <a:off x="6793992" y="296265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Dinari</a:t>
            </a:r>
            <a:endParaRPr lang="en-US" sz="1300" dirty="0"/>
          </a:p>
        </p:txBody>
      </p:sp>
      <p:sp>
        <p:nvSpPr>
          <p:cNvPr id="20" name="Text 17"/>
          <p:cNvSpPr/>
          <p:nvPr/>
        </p:nvSpPr>
        <p:spPr>
          <a:xfrm>
            <a:off x="594360" y="332841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S8</a:t>
            </a:r>
            <a:endParaRPr lang="en-US" sz="1100" dirty="0"/>
          </a:p>
        </p:txBody>
      </p:sp>
      <p:sp>
        <p:nvSpPr>
          <p:cNvPr id="21" name="Text 18">
            <a:hlinkClick r:id="rId7" tooltip=""/>
          </p:cNvPr>
          <p:cNvSpPr/>
          <p:nvPr/>
        </p:nvSpPr>
        <p:spPr>
          <a:xfrm>
            <a:off x="1124712" y="332841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7" invalidUrl="" action="" tgtFrame="" tooltip="" history="1" highlightClick="0" endSnd="0">
                  <a:extLst>
                    <a:ext uri="{A12FA001-AC4F-418D-AE19-62706E023703}">
                      <ahyp:hlinkClr xmlns:ahyp="http://schemas.microsoft.com/office/drawing/2018/hyperlinkcolor" val="tx"/>
                    </a:ext>
                  </a:extLst>
                </a:hlinkClick>
              </a:rPr>
              <a:t>xStocks distribution</a:t>
            </a:r>
            <a:endParaRPr lang="en-US" sz="1300" dirty="0"/>
          </a:p>
        </p:txBody>
      </p:sp>
      <p:sp>
        <p:nvSpPr>
          <p:cNvPr id="22" name="Text 19"/>
          <p:cNvSpPr/>
          <p:nvPr/>
        </p:nvSpPr>
        <p:spPr>
          <a:xfrm>
            <a:off x="6263640" y="332841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S9</a:t>
            </a:r>
            <a:endParaRPr lang="en-US" sz="1100" dirty="0"/>
          </a:p>
        </p:txBody>
      </p:sp>
      <p:sp>
        <p:nvSpPr>
          <p:cNvPr id="23" name="Text 20">
            <a:hlinkClick r:id="rId8" tooltip=""/>
          </p:cNvPr>
          <p:cNvSpPr/>
          <p:nvPr/>
        </p:nvSpPr>
        <p:spPr>
          <a:xfrm>
            <a:off x="6793992" y="332841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8" invalidUrl="" action="" tgtFrame="" tooltip="" history="1" highlightClick="0" endSnd="0">
                  <a:extLst>
                    <a:ext uri="{A12FA001-AC4F-418D-AE19-62706E023703}">
                      <ahyp:hlinkClr xmlns:ahyp="http://schemas.microsoft.com/office/drawing/2018/hyperlinkcolor" val="tx"/>
                    </a:ext>
                  </a:extLst>
                </a:hlinkClick>
              </a:rPr>
              <a:t>CSCS T+2 announcement</a:t>
            </a:r>
            <a:endParaRPr lang="en-US" sz="1300" dirty="0"/>
          </a:p>
        </p:txBody>
      </p:sp>
      <p:sp>
        <p:nvSpPr>
          <p:cNvPr id="24" name="Text 21"/>
          <p:cNvSpPr/>
          <p:nvPr/>
        </p:nvSpPr>
        <p:spPr>
          <a:xfrm>
            <a:off x="594360" y="369417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S10</a:t>
            </a:r>
            <a:endParaRPr lang="en-US" sz="1100" dirty="0"/>
          </a:p>
        </p:txBody>
      </p:sp>
      <p:sp>
        <p:nvSpPr>
          <p:cNvPr id="25" name="Text 22">
            <a:hlinkClick r:id="rId9" tooltip=""/>
          </p:cNvPr>
          <p:cNvSpPr/>
          <p:nvPr/>
        </p:nvSpPr>
        <p:spPr>
          <a:xfrm>
            <a:off x="1124712" y="369417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9" invalidUrl="" action="" tgtFrame="" tooltip="" history="1" highlightClick="0" endSnd="0">
                  <a:extLst>
                    <a:ext uri="{A12FA001-AC4F-418D-AE19-62706E023703}">
                      <ahyp:hlinkClr xmlns:ahyp="http://schemas.microsoft.com/office/drawing/2018/hyperlinkcolor" val="tx"/>
                    </a:ext>
                  </a:extLst>
                </a:hlinkClick>
              </a:rPr>
              <a:t>CSCS settlement explanation</a:t>
            </a:r>
            <a:endParaRPr lang="en-US" sz="1300" dirty="0"/>
          </a:p>
        </p:txBody>
      </p:sp>
      <p:sp>
        <p:nvSpPr>
          <p:cNvPr id="26" name="Text 23"/>
          <p:cNvSpPr/>
          <p:nvPr/>
        </p:nvSpPr>
        <p:spPr>
          <a:xfrm>
            <a:off x="6263640" y="369417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S11</a:t>
            </a:r>
            <a:endParaRPr lang="en-US" sz="1100" dirty="0"/>
          </a:p>
        </p:txBody>
      </p:sp>
      <p:sp>
        <p:nvSpPr>
          <p:cNvPr id="27" name="Text 24">
            <a:hlinkClick r:id="rId10" tooltip=""/>
          </p:cNvPr>
          <p:cNvSpPr/>
          <p:nvPr/>
        </p:nvSpPr>
        <p:spPr>
          <a:xfrm>
            <a:off x="6793992" y="369417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SEC capital circular</a:t>
            </a:r>
            <a:endParaRPr lang="en-US" sz="1300" dirty="0"/>
          </a:p>
        </p:txBody>
      </p:sp>
      <p:sp>
        <p:nvSpPr>
          <p:cNvPr id="28" name="Text 25"/>
          <p:cNvSpPr/>
          <p:nvPr/>
        </p:nvSpPr>
        <p:spPr>
          <a:xfrm>
            <a:off x="594360" y="405993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S14</a:t>
            </a:r>
            <a:endParaRPr lang="en-US" sz="1100" dirty="0"/>
          </a:p>
        </p:txBody>
      </p:sp>
      <p:sp>
        <p:nvSpPr>
          <p:cNvPr id="29" name="Text 26">
            <a:hlinkClick r:id="rId11" tooltip=""/>
          </p:cNvPr>
          <p:cNvSpPr/>
          <p:nvPr/>
        </p:nvSpPr>
        <p:spPr>
          <a:xfrm>
            <a:off x="1124712" y="405993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cNGN documentation</a:t>
            </a:r>
            <a:endParaRPr lang="en-US" sz="1300" dirty="0"/>
          </a:p>
        </p:txBody>
      </p:sp>
      <p:sp>
        <p:nvSpPr>
          <p:cNvPr id="30" name="Text 27"/>
          <p:cNvSpPr/>
          <p:nvPr/>
        </p:nvSpPr>
        <p:spPr>
          <a:xfrm>
            <a:off x="6263640" y="405993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S15</a:t>
            </a:r>
            <a:endParaRPr lang="en-US" sz="1100" dirty="0"/>
          </a:p>
        </p:txBody>
      </p:sp>
      <p:sp>
        <p:nvSpPr>
          <p:cNvPr id="31" name="Text 28">
            <a:hlinkClick r:id="rId12" tooltip=""/>
          </p:cNvPr>
          <p:cNvSpPr/>
          <p:nvPr/>
        </p:nvSpPr>
        <p:spPr>
          <a:xfrm>
            <a:off x="6793992" y="405993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cNGN going live</a:t>
            </a:r>
            <a:endParaRPr lang="en-US" sz="1300" dirty="0"/>
          </a:p>
        </p:txBody>
      </p:sp>
      <p:sp>
        <p:nvSpPr>
          <p:cNvPr id="32" name="Text 29"/>
          <p:cNvSpPr/>
          <p:nvPr/>
        </p:nvSpPr>
        <p:spPr>
          <a:xfrm>
            <a:off x="594360" y="442569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S17</a:t>
            </a:r>
            <a:endParaRPr lang="en-US" sz="1100" dirty="0"/>
          </a:p>
        </p:txBody>
      </p:sp>
      <p:sp>
        <p:nvSpPr>
          <p:cNvPr id="33" name="Text 30">
            <a:hlinkClick r:id="rId13" tooltip=""/>
          </p:cNvPr>
          <p:cNvSpPr/>
          <p:nvPr/>
        </p:nvSpPr>
        <p:spPr>
          <a:xfrm>
            <a:off x="1124712" y="442569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NGX broker directory</a:t>
            </a:r>
            <a:endParaRPr lang="en-US" sz="1300" dirty="0"/>
          </a:p>
        </p:txBody>
      </p:sp>
      <p:sp>
        <p:nvSpPr>
          <p:cNvPr id="34" name="Text 31"/>
          <p:cNvSpPr/>
          <p:nvPr/>
        </p:nvSpPr>
        <p:spPr>
          <a:xfrm>
            <a:off x="6263640" y="442569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S18</a:t>
            </a:r>
            <a:endParaRPr lang="en-US" sz="1100" dirty="0"/>
          </a:p>
        </p:txBody>
      </p:sp>
      <p:sp>
        <p:nvSpPr>
          <p:cNvPr id="35" name="Text 32">
            <a:hlinkClick r:id="rId14" tooltip=""/>
          </p:cNvPr>
          <p:cNvSpPr/>
          <p:nvPr/>
        </p:nvSpPr>
        <p:spPr>
          <a:xfrm>
            <a:off x="6793992" y="442569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Crafts full project record</a:t>
            </a:r>
            <a:endParaRPr lang="en-US" sz="1300" dirty="0"/>
          </a:p>
        </p:txBody>
      </p:sp>
      <p:sp>
        <p:nvSpPr>
          <p:cNvPr id="36" name="Text 33"/>
          <p:cNvSpPr/>
          <p:nvPr/>
        </p:nvSpPr>
        <p:spPr>
          <a:xfrm>
            <a:off x="594360" y="4791456"/>
            <a:ext cx="502920" cy="228600"/>
          </a:xfrm>
          <a:prstGeom prst="rect">
            <a:avLst/>
          </a:prstGeom>
          <a:noFill/>
          <a:ln/>
        </p:spPr>
        <p:txBody>
          <a:bodyPr wrap="square" lIns="0" tIns="0" rIns="0" bIns="0" rtlCol="0" anchor="t"/>
          <a:lstStyle/>
          <a:p>
            <a:pPr indent="0" marL="0">
              <a:lnSpc>
                <a:spcPct val="100000"/>
              </a:lnSpc>
              <a:buNone/>
            </a:pPr>
            <a:r>
              <a:rPr lang="en-US" sz="1100" b="1" dirty="0">
                <a:solidFill>
                  <a:srgbClr val="4175FF"/>
                </a:solidFill>
                <a:latin typeface="Aptos" pitchFamily="34" charset="0"/>
                <a:ea typeface="Aptos" pitchFamily="34" charset="-122"/>
                <a:cs typeface="Aptos" pitchFamily="34" charset="-120"/>
              </a:rPr>
              <a:t>S19</a:t>
            </a:r>
            <a:endParaRPr lang="en-US" sz="1100" dirty="0"/>
          </a:p>
        </p:txBody>
      </p:sp>
      <p:sp>
        <p:nvSpPr>
          <p:cNvPr id="37" name="Text 34">
            <a:hlinkClick r:id="rId15" tooltip=""/>
          </p:cNvPr>
          <p:cNvSpPr/>
          <p:nvPr/>
        </p:nvSpPr>
        <p:spPr>
          <a:xfrm>
            <a:off x="1124712" y="4791456"/>
            <a:ext cx="4846320" cy="182880"/>
          </a:xfrm>
          <a:prstGeom prst="rect">
            <a:avLst/>
          </a:prstGeom>
          <a:noFill/>
          <a:ln/>
        </p:spPr>
        <p:txBody>
          <a:bodyPr wrap="square" lIns="0" tIns="0" rIns="0" bIns="0" rtlCol="0" anchor="t"/>
          <a:lstStyle/>
          <a:p>
            <a:pPr indent="0" marL="0">
              <a:lnSpc>
                <a:spcPct val="100000"/>
              </a:lnSpc>
              <a:buNone/>
            </a:pPr>
            <a:r>
              <a:rPr lang="en-US" sz="1300" u="sng" dirty="0">
                <a:solidFill>
                  <a:srgbClr val="50637F"/>
                </a:solidFill>
                <a:latin typeface="Aptos" pitchFamily="34" charset="0"/>
                <a:ea typeface="Aptos" pitchFamily="34" charset="-122"/>
                <a:cs typeface="Apto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Credible Finance full project record</a:t>
            </a:r>
            <a:endParaRPr lang="en-US" sz="1300" dirty="0"/>
          </a:p>
        </p:txBody>
      </p:sp>
      <p:sp>
        <p:nvSpPr>
          <p:cNvPr id="38" name="Text 35"/>
          <p:cNvSpPr/>
          <p:nvPr/>
        </p:nvSpPr>
        <p:spPr>
          <a:xfrm>
            <a:off x="566928" y="5349240"/>
            <a:ext cx="10972800" cy="228600"/>
          </a:xfrm>
          <a:prstGeom prst="rect">
            <a:avLst/>
          </a:prstGeom>
          <a:noFill/>
          <a:ln/>
        </p:spPr>
        <p:txBody>
          <a:bodyPr wrap="square" lIns="0" tIns="0" rIns="0" bIns="0" rtlCol="0" anchor="t"/>
          <a:lstStyle/>
          <a:p>
            <a:pPr indent="0" marL="0">
              <a:lnSpc>
                <a:spcPct val="100000"/>
              </a:lnSpc>
              <a:buNone/>
            </a:pPr>
            <a:r>
              <a:rPr lang="en-US" sz="1200" dirty="0">
                <a:solidFill>
                  <a:srgbClr val="50637F"/>
                </a:solidFill>
                <a:latin typeface="Aptos" pitchFamily="34" charset="0"/>
                <a:ea typeface="Aptos" pitchFamily="34" charset="-122"/>
                <a:cs typeface="Aptos" pitchFamily="34" charset="-120"/>
              </a:rPr>
              <a:t>Local evidence: repository inspection + founder report. Customer and legal validation remain pending.</a:t>
            </a:r>
            <a:endParaRPr lang="en-US" sz="1200" dirty="0"/>
          </a:p>
        </p:txBody>
      </p:sp>
      <p:sp>
        <p:nvSpPr>
          <p:cNvPr id="39" name="Shape 36"/>
          <p:cNvSpPr/>
          <p:nvPr/>
        </p:nvSpPr>
        <p:spPr>
          <a:xfrm>
            <a:off x="502920" y="5696712"/>
            <a:ext cx="11155680" cy="621792"/>
          </a:xfrm>
          <a:prstGeom prst="roundRect">
            <a:avLst>
              <a:gd name="adj" fmla="val 14706"/>
            </a:avLst>
          </a:prstGeom>
          <a:solidFill>
            <a:srgbClr val="FFF4D8"/>
          </a:solidFill>
          <a:ln w="9525">
            <a:solidFill>
              <a:srgbClr val="FFF4D8"/>
            </a:solidFill>
            <a:prstDash val="solid"/>
          </a:ln>
        </p:spPr>
      </p:sp>
      <p:sp>
        <p:nvSpPr>
          <p:cNvPr id="40" name="Text 37"/>
          <p:cNvSpPr/>
          <p:nvPr/>
        </p:nvSpPr>
        <p:spPr>
          <a:xfrm>
            <a:off x="685800" y="5806440"/>
            <a:ext cx="1536192" cy="164592"/>
          </a:xfrm>
          <a:prstGeom prst="rect">
            <a:avLst/>
          </a:prstGeom>
          <a:noFill/>
          <a:ln/>
        </p:spPr>
        <p:txBody>
          <a:bodyPr wrap="square" lIns="0" tIns="0" rIns="0" bIns="0" rtlCol="0" anchor="t"/>
          <a:lstStyle/>
          <a:p>
            <a:pPr indent="0" marL="0">
              <a:lnSpc>
                <a:spcPct val="100000"/>
              </a:lnSpc>
              <a:buNone/>
            </a:pPr>
            <a:r>
              <a:rPr lang="en-US" sz="900" b="1" spc="50" kern="0" dirty="0">
                <a:solidFill>
                  <a:srgbClr val="8D5A00"/>
                </a:solidFill>
                <a:latin typeface="Aptos" pitchFamily="34" charset="0"/>
                <a:ea typeface="Aptos" pitchFamily="34" charset="-122"/>
                <a:cs typeface="Aptos" pitchFamily="34" charset="-120"/>
              </a:rPr>
              <a:t>FOUNDER PROMPT</a:t>
            </a:r>
            <a:endParaRPr lang="en-US" sz="900" dirty="0"/>
          </a:p>
        </p:txBody>
      </p:sp>
      <p:sp>
        <p:nvSpPr>
          <p:cNvPr id="41" name="Text 38"/>
          <p:cNvSpPr/>
          <p:nvPr/>
        </p:nvSpPr>
        <p:spPr>
          <a:xfrm>
            <a:off x="2267712" y="5806440"/>
            <a:ext cx="9144000" cy="365760"/>
          </a:xfrm>
          <a:prstGeom prst="rect">
            <a:avLst/>
          </a:prstGeom>
          <a:noFill/>
          <a:ln/>
        </p:spPr>
        <p:txBody>
          <a:bodyPr wrap="square" lIns="0" tIns="0" rIns="0" bIns="0" rtlCol="0" anchor="t"/>
          <a:lstStyle/>
          <a:p>
            <a:pPr indent="0" marL="0">
              <a:lnSpc>
                <a:spcPct val="100000"/>
              </a:lnSpc>
              <a:buNone/>
            </a:pPr>
            <a:r>
              <a:rPr lang="en-US" sz="1400" dirty="0">
                <a:solidFill>
                  <a:srgbClr val="8D5A00"/>
                </a:solidFill>
                <a:latin typeface="Aptos" pitchFamily="34" charset="0"/>
                <a:ea typeface="Aptos" pitchFamily="34" charset="-122"/>
                <a:cs typeface="Aptos" pitchFamily="34" charset="-120"/>
              </a:rPr>
              <a:t>Company pages describe their products; they do not independently establish performance.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Rabovel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Rabovel — Colosseum pitch blueprint</dc:title>
  <dc:subject>Colosseum evidence and founder presentation blueprint</dc:subject>
  <dc:creator>Rabovel · research workspace</dc:creator>
  <cp:lastModifiedBy>Rabovel · research workspace</cp:lastModifiedBy>
  <cp:revision>1</cp:revision>
  <dcterms:created xsi:type="dcterms:W3CDTF">2026-10-07T20:46:16Z</dcterms:created>
  <dcterms:modified xsi:type="dcterms:W3CDTF">2026-10-07T20:46:16Z</dcterms:modified>
</cp:coreProperties>
</file>